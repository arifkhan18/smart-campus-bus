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lexandria Bold" charset="1" panose="00000000000000000000"/>
      <p:regular r:id="rId22"/>
    </p:embeddedFont>
    <p:embeddedFont>
      <p:font typeface="Arimo Bold" charset="1" panose="020B0704020202020204"/>
      <p:regular r:id="rId23"/>
    </p:embeddedFont>
    <p:embeddedFont>
      <p:font typeface="Arimo" charset="1" panose="020B0604020202020204"/>
      <p:regular r:id="rId24"/>
    </p:embeddedFont>
    <p:embeddedFont>
      <p:font typeface="Alexandria Medium" charset="1" panose="00000000000000000000"/>
      <p:regular r:id="rId26"/>
    </p:embeddedFont>
    <p:embeddedFont>
      <p:font typeface="Alexandria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5210" t="-89889" r="-55212" b="1210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19689" t="-73739" r="-19690" b="-404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1628" y="5216671"/>
            <a:ext cx="7395153" cy="260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0"/>
              </a:lnSpc>
            </a:pPr>
            <a:r>
              <a:rPr lang="en-US" b="true" sz="19000">
                <a:solidFill>
                  <a:srgbClr val="5296B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SHOE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1628" y="3109722"/>
            <a:ext cx="9234154" cy="248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0"/>
              </a:lnSpc>
            </a:pPr>
            <a:r>
              <a:rPr lang="en-US" b="true" sz="19000">
                <a:solidFill>
                  <a:srgbClr val="285D6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SMART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08248" y="0"/>
            <a:ext cx="11919299" cy="11373802"/>
            <a:chOff x="0" y="0"/>
            <a:chExt cx="15892399" cy="151650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92399" cy="15165070"/>
            </a:xfrm>
            <a:custGeom>
              <a:avLst/>
              <a:gdLst/>
              <a:ahLst/>
              <a:cxnLst/>
              <a:rect r="r" b="b" t="t" l="l"/>
              <a:pathLst>
                <a:path h="15165070" w="15892399">
                  <a:moveTo>
                    <a:pt x="0" y="0"/>
                  </a:moveTo>
                  <a:lnTo>
                    <a:pt x="15892399" y="0"/>
                  </a:lnTo>
                  <a:lnTo>
                    <a:pt x="15892399" y="15165070"/>
                  </a:lnTo>
                  <a:lnTo>
                    <a:pt x="0" y="15165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99" r="-3" b="-239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82873" y="1142371"/>
            <a:ext cx="8046149" cy="61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799">
                <a:solidFill>
                  <a:srgbClr val="15110E"/>
                </a:solidFill>
                <a:latin typeface="Arimo Bold"/>
                <a:ea typeface="Arimo Bold"/>
                <a:cs typeface="Arimo Bold"/>
                <a:sym typeface="Arimo Bold"/>
              </a:rPr>
              <a:t>Smart Steps, Bright Paths:</a:t>
            </a:r>
            <a:r>
              <a:rPr lang="en-US" sz="2799">
                <a:solidFill>
                  <a:srgbClr val="15110E"/>
                </a:solidFill>
                <a:latin typeface="Arimo"/>
                <a:ea typeface="Arimo"/>
                <a:cs typeface="Arimo"/>
                <a:sym typeface="Arimo"/>
              </a:rPr>
              <a:t> Walk into Tomorrow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2648" y="-3277"/>
            <a:ext cx="18282904" cy="10293553"/>
            <a:chOff x="0" y="0"/>
            <a:chExt cx="24377206" cy="137247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142" cy="13724762"/>
            </a:xfrm>
            <a:custGeom>
              <a:avLst/>
              <a:gdLst/>
              <a:ahLst/>
              <a:cxnLst/>
              <a:rect r="r" b="b" t="t" l="l"/>
              <a:pathLst>
                <a:path h="13724762" w="24377142">
                  <a:moveTo>
                    <a:pt x="0" y="0"/>
                  </a:moveTo>
                  <a:lnTo>
                    <a:pt x="24377142" y="0"/>
                  </a:lnTo>
                  <a:lnTo>
                    <a:pt x="24377142" y="13724762"/>
                  </a:lnTo>
                  <a:lnTo>
                    <a:pt x="0" y="13724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779" t="67479" r="101669" b="-2983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9228" y="2096452"/>
            <a:ext cx="6846751" cy="86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Group Information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39976" y="3048500"/>
          <a:ext cx="15367000" cy="4114800"/>
        </p:xfrm>
        <a:graphic>
          <a:graphicData uri="http://schemas.openxmlformats.org/drawingml/2006/table">
            <a:tbl>
              <a:tblPr/>
              <a:tblGrid>
                <a:gridCol w="7328514"/>
                <a:gridCol w="3416410"/>
                <a:gridCol w="2158227"/>
                <a:gridCol w="2463849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Team Member 1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5110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ID: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Sec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Intake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Team Member 2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5110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ID: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Sec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Intake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Team Member 3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5110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ID: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Sec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Intake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Team Member 4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5110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ID: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Sec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Intake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Team Member 5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5110E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ID: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Sec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5110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Intake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0298" y="0"/>
            <a:ext cx="18308298" cy="10296754"/>
            <a:chOff x="0" y="0"/>
            <a:chExt cx="24411064" cy="137290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1051" cy="13728954"/>
            </a:xfrm>
            <a:custGeom>
              <a:avLst/>
              <a:gdLst/>
              <a:ahLst/>
              <a:cxnLst/>
              <a:rect r="r" b="b" t="t" l="l"/>
              <a:pathLst>
                <a:path h="13728954" w="24411051">
                  <a:moveTo>
                    <a:pt x="0" y="0"/>
                  </a:moveTo>
                  <a:lnTo>
                    <a:pt x="24411051" y="0"/>
                  </a:lnTo>
                  <a:lnTo>
                    <a:pt x="24411051" y="13728954"/>
                  </a:lnTo>
                  <a:lnTo>
                    <a:pt x="0" y="1372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80899" t="-27493" r="-15289" b="6634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49054" y="1019175"/>
            <a:ext cx="13589892" cy="180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25"/>
              </a:lnSpc>
            </a:pPr>
            <a:r>
              <a:rPr lang="en-US" b="true" sz="11771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Table of Contents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37651" y="3287449"/>
          <a:ext cx="15392400" cy="5562600"/>
        </p:xfrm>
        <a:graphic>
          <a:graphicData uri="http://schemas.openxmlformats.org/drawingml/2006/table">
            <a:tbl>
              <a:tblPr/>
              <a:tblGrid>
                <a:gridCol w="1189939"/>
                <a:gridCol w="5716842"/>
                <a:gridCol w="1168219"/>
                <a:gridCol w="7317401"/>
              </a:tblGrid>
              <a:tr h="14203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01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Problem Statement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05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Required Capital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15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02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Features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06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Start-Up Plan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0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03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Technology Integration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07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Outcomes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8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04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Methodology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08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15110E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Conclusion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032000" y="3795184"/>
          <a:ext cx="14224000" cy="5816600"/>
        </p:xfrm>
        <a:graphic>
          <a:graphicData uri="http://schemas.openxmlformats.org/drawingml/2006/table">
            <a:tbl>
              <a:tblPr/>
              <a:tblGrid>
                <a:gridCol w="14224000"/>
              </a:tblGrid>
              <a:tr h="11481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91"/>
                        </a:lnSpc>
                        <a:defRPr/>
                      </a:pPr>
                      <a:r>
                        <a:rPr lang="en-US" b="true" sz="34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Fitness Tracking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15685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Problem:</a:t>
                      </a:r>
                      <a:r>
                        <a:rPr lang="en-US" sz="3000">
                          <a:solidFill>
                            <a:srgbClr val="135669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 Lack of real-time foot health insights.</a:t>
                      </a:r>
                      <a:endParaRPr lang="en-US" sz="1100"/>
                    </a:p>
                    <a:p>
                      <a:pPr algn="ctr">
                        <a:lnSpc>
                          <a:spcPts val="4140"/>
                        </a:lnSpc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Solution: </a:t>
                      </a:r>
                      <a:r>
                        <a:rPr lang="en-US" sz="3000">
                          <a:solidFill>
                            <a:srgbClr val="135669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Track various health metrics with several sensors.</a:t>
                      </a:r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54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91"/>
                        </a:lnSpc>
                        <a:defRPr/>
                      </a:pPr>
                      <a:r>
                        <a:rPr lang="en-US" b="true" sz="34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Gait Monitoring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</a:tr>
              <a:tr h="20844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Problem:</a:t>
                      </a:r>
                      <a:r>
                        <a:rPr lang="en-US" sz="3000">
                          <a:solidFill>
                            <a:srgbClr val="135669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 Orientation of all the leg segments.</a:t>
                      </a:r>
                      <a:endParaRPr lang="en-US" sz="1100"/>
                    </a:p>
                    <a:p>
                      <a:pPr algn="ctr">
                        <a:lnSpc>
                          <a:spcPts val="4140"/>
                        </a:lnSpc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Solution:</a:t>
                      </a:r>
                      <a:r>
                        <a:rPr lang="en-US" sz="3000">
                          <a:solidFill>
                            <a:srgbClr val="135669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 Analyzing the walking or motion to Identify the source of muscle, nerve or skeletal problems.</a:t>
                      </a:r>
                    </a:p>
                  </a:txBody>
                  <a:tcPr marL="91425" marR="91425" marT="91425" marB="91425" anchor="ctr">
                    <a:lnL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356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190305" y="787000"/>
            <a:ext cx="1390739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Problem Statement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60500" y="3364011"/>
          <a:ext cx="15367000" cy="3073400"/>
        </p:xfrm>
        <a:graphic>
          <a:graphicData uri="http://schemas.openxmlformats.org/drawingml/2006/table">
            <a:tbl>
              <a:tblPr/>
              <a:tblGrid>
                <a:gridCol w="3073400"/>
                <a:gridCol w="3073400"/>
                <a:gridCol w="3073400"/>
                <a:gridCol w="3073400"/>
                <a:gridCol w="3073400"/>
              </a:tblGrid>
              <a:tr h="92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01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02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03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04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05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21442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Feet Pressure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Step Counter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Step Acceleration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Walking Distance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Gait Monitoring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60500" y="6472811"/>
          <a:ext cx="15367000" cy="3073400"/>
        </p:xfrm>
        <a:graphic>
          <a:graphicData uri="http://schemas.openxmlformats.org/drawingml/2006/table">
            <a:tbl>
              <a:tblPr/>
              <a:tblGrid>
                <a:gridCol w="3073400"/>
                <a:gridCol w="3073400"/>
                <a:gridCol w="3073400"/>
                <a:gridCol w="3073400"/>
                <a:gridCol w="3073400"/>
              </a:tblGrid>
              <a:tr h="92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06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07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08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09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b="true" sz="36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10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</a:tr>
              <a:tr h="21442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Weight &amp; BMI Measurement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Feet Temperature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Fitness Tracking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Vibration Feedback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User Friendly Application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973285" y="716389"/>
            <a:ext cx="634143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Features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1519" y="4546968"/>
            <a:ext cx="4959753" cy="61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11048" y="3215497"/>
            <a:ext cx="5180705" cy="1259100"/>
            <a:chOff x="0" y="0"/>
            <a:chExt cx="6907606" cy="167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07657" cy="1678813"/>
            </a:xfrm>
            <a:custGeom>
              <a:avLst/>
              <a:gdLst/>
              <a:ahLst/>
              <a:cxnLst/>
              <a:rect r="r" b="b" t="t" l="l"/>
              <a:pathLst>
                <a:path h="1678813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678813"/>
                  </a:lnTo>
                  <a:lnTo>
                    <a:pt x="0" y="1678813"/>
                  </a:lnTo>
                  <a:close/>
                </a:path>
              </a:pathLst>
            </a:custGeom>
            <a:solidFill>
              <a:srgbClr val="135669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907606" cy="167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Collect Raw Data From Sensors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4123" y="4546968"/>
            <a:ext cx="4959753" cy="61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5296B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53643" y="3215497"/>
            <a:ext cx="5180705" cy="1259100"/>
            <a:chOff x="0" y="0"/>
            <a:chExt cx="6907606" cy="167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07657" cy="1678813"/>
            </a:xfrm>
            <a:custGeom>
              <a:avLst/>
              <a:gdLst/>
              <a:ahLst/>
              <a:cxnLst/>
              <a:rect r="r" b="b" t="t" l="l"/>
              <a:pathLst>
                <a:path h="1678813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678813"/>
                  </a:lnTo>
                  <a:lnTo>
                    <a:pt x="0" y="1678813"/>
                  </a:lnTo>
                  <a:close/>
                </a:path>
              </a:pathLst>
            </a:custGeom>
            <a:solidFill>
              <a:srgbClr val="5296B8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6907606" cy="167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Store The Data In The Cloud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06719" y="4546968"/>
            <a:ext cx="4959753" cy="612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96248" y="3215497"/>
            <a:ext cx="5180705" cy="1259100"/>
            <a:chOff x="0" y="0"/>
            <a:chExt cx="6907606" cy="167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07657" cy="1678813"/>
            </a:xfrm>
            <a:custGeom>
              <a:avLst/>
              <a:gdLst/>
              <a:ahLst/>
              <a:cxnLst/>
              <a:rect r="r" b="b" t="t" l="l"/>
              <a:pathLst>
                <a:path h="1678813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678813"/>
                  </a:lnTo>
                  <a:lnTo>
                    <a:pt x="0" y="1678813"/>
                  </a:lnTo>
                  <a:close/>
                </a:path>
              </a:pathLst>
            </a:custGeom>
            <a:solidFill>
              <a:srgbClr val="135669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6907606" cy="167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Process The Collected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880490" y="5318322"/>
            <a:ext cx="241802" cy="241802"/>
            <a:chOff x="0" y="0"/>
            <a:chExt cx="322402" cy="3224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13566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21519" y="7200767"/>
            <a:ext cx="4959753" cy="73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11048" y="7893596"/>
            <a:ext cx="5180705" cy="1364704"/>
            <a:chOff x="0" y="0"/>
            <a:chExt cx="6907606" cy="18196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07657" cy="1819656"/>
            </a:xfrm>
            <a:custGeom>
              <a:avLst/>
              <a:gdLst/>
              <a:ahLst/>
              <a:cxnLst/>
              <a:rect r="r" b="b" t="t" l="l"/>
              <a:pathLst>
                <a:path h="1819656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819656"/>
                  </a:lnTo>
                  <a:lnTo>
                    <a:pt x="0" y="1819656"/>
                  </a:lnTo>
                  <a:close/>
                </a:path>
              </a:pathLst>
            </a:custGeom>
            <a:solidFill>
              <a:srgbClr val="135669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907606" cy="1819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Machine Learning Algorithms To Predict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4123" y="7200767"/>
            <a:ext cx="4959753" cy="73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5296B8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53643" y="7893596"/>
            <a:ext cx="5180705" cy="1364704"/>
            <a:chOff x="0" y="0"/>
            <a:chExt cx="6907606" cy="18196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07657" cy="1819656"/>
            </a:xfrm>
            <a:custGeom>
              <a:avLst/>
              <a:gdLst/>
              <a:ahLst/>
              <a:cxnLst/>
              <a:rect r="r" b="b" t="t" l="l"/>
              <a:pathLst>
                <a:path h="1819656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819656"/>
                  </a:lnTo>
                  <a:lnTo>
                    <a:pt x="0" y="1819656"/>
                  </a:lnTo>
                  <a:close/>
                </a:path>
              </a:pathLst>
            </a:custGeom>
            <a:solidFill>
              <a:srgbClr val="5296B8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907606" cy="1819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Data</a:t>
              </a:r>
            </a:p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Visualization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806719" y="7200767"/>
            <a:ext cx="4959753" cy="73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06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96248" y="7893596"/>
            <a:ext cx="5180705" cy="1364704"/>
            <a:chOff x="0" y="0"/>
            <a:chExt cx="6907606" cy="1819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07657" cy="1819656"/>
            </a:xfrm>
            <a:custGeom>
              <a:avLst/>
              <a:gdLst/>
              <a:ahLst/>
              <a:cxnLst/>
              <a:rect r="r" b="b" t="t" l="l"/>
              <a:pathLst>
                <a:path h="1819656" w="6907657">
                  <a:moveTo>
                    <a:pt x="0" y="0"/>
                  </a:moveTo>
                  <a:lnTo>
                    <a:pt x="6907657" y="0"/>
                  </a:lnTo>
                  <a:lnTo>
                    <a:pt x="6907657" y="1819656"/>
                  </a:lnTo>
                  <a:lnTo>
                    <a:pt x="0" y="1819656"/>
                  </a:lnTo>
                  <a:close/>
                </a:path>
              </a:pathLst>
            </a:custGeom>
            <a:solidFill>
              <a:srgbClr val="135669"/>
            </a:solidFill>
            <a:ln w="38100" cap="sq">
              <a:solidFill>
                <a:srgbClr val="FFFAF6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907606" cy="1819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FFFAF6"/>
                  </a:solidFill>
                  <a:latin typeface="Alexandria Medium"/>
                  <a:ea typeface="Alexandria Medium"/>
                  <a:cs typeface="Alexandria Medium"/>
                  <a:sym typeface="Alexandria Medium"/>
                </a:rPr>
                <a:t>Get User Feedback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80490" y="6804527"/>
            <a:ext cx="241802" cy="241802"/>
            <a:chOff x="0" y="0"/>
            <a:chExt cx="322402" cy="3224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1356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23085" y="5318322"/>
            <a:ext cx="241802" cy="241802"/>
            <a:chOff x="0" y="0"/>
            <a:chExt cx="322402" cy="3224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5296B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23085" y="6804527"/>
            <a:ext cx="241802" cy="241802"/>
            <a:chOff x="0" y="0"/>
            <a:chExt cx="322402" cy="3224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5296B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165690" y="5318322"/>
            <a:ext cx="241802" cy="241802"/>
            <a:chOff x="0" y="0"/>
            <a:chExt cx="322402" cy="3224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13566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165690" y="6804527"/>
            <a:ext cx="241802" cy="241802"/>
            <a:chOff x="0" y="0"/>
            <a:chExt cx="322402" cy="3224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2453" cy="322453"/>
            </a:xfrm>
            <a:custGeom>
              <a:avLst/>
              <a:gdLst/>
              <a:ahLst/>
              <a:cxnLst/>
              <a:rect r="r" b="b" t="t" l="l"/>
              <a:pathLst>
                <a:path h="322453" w="322453">
                  <a:moveTo>
                    <a:pt x="0" y="0"/>
                  </a:moveTo>
                  <a:lnTo>
                    <a:pt x="322453" y="0"/>
                  </a:lnTo>
                  <a:lnTo>
                    <a:pt x="322453" y="322453"/>
                  </a:lnTo>
                  <a:lnTo>
                    <a:pt x="0" y="322453"/>
                  </a:lnTo>
                  <a:close/>
                </a:path>
              </a:pathLst>
            </a:custGeom>
            <a:solidFill>
              <a:srgbClr val="135669"/>
            </a:solidFill>
          </p:spPr>
        </p:sp>
      </p:grpSp>
      <p:sp>
        <p:nvSpPr>
          <p:cNvPr name="AutoShape 38" id="38"/>
          <p:cNvSpPr/>
          <p:nvPr/>
        </p:nvSpPr>
        <p:spPr>
          <a:xfrm>
            <a:off x="4122291" y="5439223"/>
            <a:ext cx="4900793" cy="0"/>
          </a:xfrm>
          <a:prstGeom prst="line">
            <a:avLst/>
          </a:prstGeom>
          <a:ln cap="rnd" w="19050">
            <a:solidFill>
              <a:srgbClr val="1511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9264887" y="5439223"/>
            <a:ext cx="4900803" cy="0"/>
          </a:xfrm>
          <a:prstGeom prst="line">
            <a:avLst/>
          </a:prstGeom>
          <a:ln cap="rnd" w="19050">
            <a:solidFill>
              <a:srgbClr val="1511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4122291" y="6925427"/>
            <a:ext cx="4900793" cy="0"/>
          </a:xfrm>
          <a:prstGeom prst="line">
            <a:avLst/>
          </a:prstGeom>
          <a:ln cap="rnd" w="19050">
            <a:solidFill>
              <a:srgbClr val="1511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9264887" y="6925427"/>
            <a:ext cx="4900803" cy="0"/>
          </a:xfrm>
          <a:prstGeom prst="line">
            <a:avLst/>
          </a:prstGeom>
          <a:ln cap="rnd" w="19050">
            <a:solidFill>
              <a:srgbClr val="1511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H="true">
            <a:off x="3880490" y="5439223"/>
            <a:ext cx="10527001" cy="1486205"/>
          </a:xfrm>
          <a:prstGeom prst="line">
            <a:avLst/>
          </a:prstGeom>
          <a:ln cap="rnd" w="19050">
            <a:solidFill>
              <a:srgbClr val="1511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854912" y="614724"/>
            <a:ext cx="16819950" cy="233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Technology Integration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" y="-4572"/>
            <a:ext cx="18288000" cy="10296144"/>
            <a:chOff x="0" y="0"/>
            <a:chExt cx="24384000" cy="13728192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28192"/>
            </a:xfrm>
            <a:custGeom>
              <a:avLst/>
              <a:gdLst/>
              <a:ahLst/>
              <a:cxnLst/>
              <a:rect r="r" b="b" t="t" l="l"/>
              <a:pathLst>
                <a:path h="13728192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3728192"/>
                  </a:lnTo>
                  <a:lnTo>
                    <a:pt x="24384000" y="1372819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3"/>
              <a:stretch>
                <a:fillRect l="-4983" t="-59620" r="34219" b="339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1513" y="2355776"/>
            <a:ext cx="12864974" cy="7931224"/>
            <a:chOff x="0" y="0"/>
            <a:chExt cx="2224826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4824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248240">
                  <a:moveTo>
                    <a:pt x="0" y="0"/>
                  </a:moveTo>
                  <a:lnTo>
                    <a:pt x="22248240" y="0"/>
                  </a:lnTo>
                  <a:lnTo>
                    <a:pt x="2224824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49" t="0" r="-99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439576" y="278178"/>
            <a:ext cx="940884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Methodology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606076" y="1303750"/>
          <a:ext cx="15036800" cy="6604000"/>
        </p:xfrm>
        <a:graphic>
          <a:graphicData uri="http://schemas.openxmlformats.org/drawingml/2006/table">
            <a:tbl>
              <a:tblPr/>
              <a:tblGrid>
                <a:gridCol w="2981971"/>
                <a:gridCol w="4763879"/>
                <a:gridCol w="5003012"/>
                <a:gridCol w="2287939"/>
              </a:tblGrid>
              <a:tr h="833832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809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7"/>
                        </a:lnSpc>
                        <a:defRPr/>
                      </a:pPr>
                      <a:r>
                        <a:rPr lang="en-US" sz="2600">
                          <a:solidFill>
                            <a:srgbClr val="FFFAF6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Time Stamp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7"/>
                        </a:lnSpc>
                        <a:defRPr/>
                      </a:pPr>
                      <a:r>
                        <a:rPr lang="en-US" sz="2600">
                          <a:solidFill>
                            <a:srgbClr val="FFFAF6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13 attributes for Left Foot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7"/>
                        </a:lnSpc>
                        <a:defRPr/>
                      </a:pPr>
                      <a:r>
                        <a:rPr lang="en-US" sz="2600">
                          <a:solidFill>
                            <a:srgbClr val="FFFAF6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13 attributes for Right Foot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7"/>
                        </a:lnSpc>
                        <a:defRPr/>
                      </a:pPr>
                      <a:r>
                        <a:rPr lang="en-US" sz="2600">
                          <a:solidFill>
                            <a:srgbClr val="FFFAF6"/>
                          </a:solidFill>
                          <a:latin typeface="Alexandria"/>
                          <a:ea typeface="Alexandria"/>
                          <a:cs typeface="Alexandria"/>
                          <a:sym typeface="Alexandria"/>
                        </a:rPr>
                        <a:t>Weight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</a:tr>
              <a:tr h="2465512">
                <a:tc gridSpan="4">
                  <a:txBody>
                    <a:bodyPr anchor="t" rtlCol="false"/>
                    <a:lstStyle/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Timestamp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(ms)</a:t>
                      </a:r>
                      <a:endParaRPr lang="en-US" sz="1100"/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from 1 to 4 sensors (N/cm2)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Acceleration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y, z axis (g)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Angular Rate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x,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y,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z (dps)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Center of 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 (related to insole length/width)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Total Force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(N)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Weight</a:t>
                      </a:r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Timestamp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(ms)</a:t>
                      </a:r>
                      <a:endParaRPr lang="en-US" sz="1100"/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from 1 to 4 sensors (N/cm2)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Acceleration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y, z axis (g)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Angular Rate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x,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y,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z (dps)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Center of 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 (related to insole length/width)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Total Force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(N)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Weight</a:t>
                      </a:r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Timestamp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(ms)</a:t>
                      </a:r>
                      <a:endParaRPr lang="en-US" sz="1100"/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from 1 to 4 sensors (N/cm2)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Acceleration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y, z axis (g)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Angular Rate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x,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y,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z (dps)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Center of 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 (related to insole length/width)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Total Force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(N)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Weight</a:t>
                      </a:r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6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Timestamp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(ms)</a:t>
                      </a:r>
                      <a:endParaRPr lang="en-US" sz="1100"/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from 1 to 4 sensors (N/cm2)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Acceleration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y, z axis (g)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Angular Rate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x,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y, 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ω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z (dps)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Center of Pressure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in x, y (related to insole length/width)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Total Force</a:t>
                      </a: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 (N)</a:t>
                      </a:r>
                    </a:p>
                    <a:p>
                      <a:pPr algn="l" marL="990600" indent="-495300" lvl="1">
                        <a:lnSpc>
                          <a:spcPts val="3600"/>
                        </a:lnSpc>
                        <a:buFont typeface="Arial"/>
                        <a:buChar char="•"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Weight</a:t>
                      </a:r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6"/>
                    </a:solidFill>
                  </a:tcPr>
                </a:tc>
              </a:tr>
              <a:tr h="839237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Create 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Create 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Create 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Create Dataset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839237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Train Machine Learning Algorithm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Train Machine Learning Algorithm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Train Machine Learning Algorithm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Train Machine Learning Algorithm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</a:tr>
              <a:tr h="816925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Predict User’s Weight, Gait, Leg Posture and Fitness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Predict User’s Weight, Gait, Leg Posture and Fitness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Predict User’s Weight, Gait, Leg Posture and Fitness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Predict User’s Weight, Gait, Leg Posture and Fitness</a:t>
                      </a:r>
                      <a:endParaRPr lang="en-US" sz="1100"/>
                    </a:p>
                  </a:txBody>
                  <a:tcPr marL="91425" marR="91425" marT="91425" marB="91425" anchor="t">
                    <a:lnL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82502" y="2683977"/>
            <a:ext cx="14522996" cy="6862365"/>
            <a:chOff x="0" y="0"/>
            <a:chExt cx="19363995" cy="91498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2342596" y="1290654"/>
              <a:ext cx="7021398" cy="869404"/>
              <a:chOff x="0" y="0"/>
              <a:chExt cx="7021398" cy="86940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021449" cy="869442"/>
              </a:xfrm>
              <a:custGeom>
                <a:avLst/>
                <a:gdLst/>
                <a:ahLst/>
                <a:cxnLst/>
                <a:rect r="r" b="b" t="t" l="l"/>
                <a:pathLst>
                  <a:path h="869442" w="7021449">
                    <a:moveTo>
                      <a:pt x="0" y="0"/>
                    </a:moveTo>
                    <a:lnTo>
                      <a:pt x="7021449" y="0"/>
                    </a:lnTo>
                    <a:lnTo>
                      <a:pt x="7021449" y="869442"/>
                    </a:lnTo>
                    <a:lnTo>
                      <a:pt x="0" y="86944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7358" r="0" b="-107354"/>
                </a:stretch>
              </a:blipFill>
              <a:ln w="19050" cap="sq">
                <a:solidFill>
                  <a:srgbClr val="15110E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322340" y="1290679"/>
              <a:ext cx="304597" cy="869404"/>
              <a:chOff x="0" y="0"/>
              <a:chExt cx="304597" cy="8694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04546" cy="869442"/>
              </a:xfrm>
              <a:custGeom>
                <a:avLst/>
                <a:gdLst/>
                <a:ahLst/>
                <a:cxnLst/>
                <a:rect r="r" b="b" t="t" l="l"/>
                <a:pathLst>
                  <a:path h="869442" w="304546">
                    <a:moveTo>
                      <a:pt x="0" y="0"/>
                    </a:moveTo>
                    <a:lnTo>
                      <a:pt x="304546" y="0"/>
                    </a:lnTo>
                    <a:lnTo>
                      <a:pt x="304546" y="869442"/>
                    </a:lnTo>
                    <a:lnTo>
                      <a:pt x="0" y="869442"/>
                    </a:lnTo>
                    <a:close/>
                  </a:path>
                </a:pathLst>
              </a:custGeom>
              <a:solidFill>
                <a:srgbClr val="135669"/>
              </a:solidFill>
              <a:ln w="19050" cap="sq">
                <a:solidFill>
                  <a:srgbClr val="15110E"/>
                </a:soli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2342355" y="3037857"/>
              <a:ext cx="7021398" cy="869404"/>
              <a:chOff x="0" y="0"/>
              <a:chExt cx="7021398" cy="86940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21449" cy="869442"/>
              </a:xfrm>
              <a:custGeom>
                <a:avLst/>
                <a:gdLst/>
                <a:ahLst/>
                <a:cxnLst/>
                <a:rect r="r" b="b" t="t" l="l"/>
                <a:pathLst>
                  <a:path h="869442" w="7021449">
                    <a:moveTo>
                      <a:pt x="0" y="0"/>
                    </a:moveTo>
                    <a:lnTo>
                      <a:pt x="7021449" y="0"/>
                    </a:lnTo>
                    <a:lnTo>
                      <a:pt x="7021449" y="869442"/>
                    </a:lnTo>
                    <a:lnTo>
                      <a:pt x="0" y="86944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7358" r="0" b="-107354"/>
                </a:stretch>
              </a:blipFill>
              <a:ln w="19050" cap="sq">
                <a:solidFill>
                  <a:srgbClr val="15110E"/>
                </a:solidFill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2342355" y="3037857"/>
              <a:ext cx="5227002" cy="869404"/>
              <a:chOff x="0" y="0"/>
              <a:chExt cx="5227002" cy="86940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226939" cy="869442"/>
              </a:xfrm>
              <a:custGeom>
                <a:avLst/>
                <a:gdLst/>
                <a:ahLst/>
                <a:cxnLst/>
                <a:rect r="r" b="b" t="t" l="l"/>
                <a:pathLst>
                  <a:path h="869442" w="5226939">
                    <a:moveTo>
                      <a:pt x="0" y="0"/>
                    </a:moveTo>
                    <a:lnTo>
                      <a:pt x="5226939" y="0"/>
                    </a:lnTo>
                    <a:lnTo>
                      <a:pt x="5226939" y="869442"/>
                    </a:lnTo>
                    <a:lnTo>
                      <a:pt x="0" y="869442"/>
                    </a:lnTo>
                    <a:close/>
                  </a:path>
                </a:pathLst>
              </a:custGeom>
              <a:solidFill>
                <a:srgbClr val="135669"/>
              </a:solidFill>
              <a:ln w="19050" cap="sq">
                <a:solidFill>
                  <a:srgbClr val="15110E"/>
                </a:solidFill>
                <a:prstDash val="solid"/>
                <a:miter/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355296" y="2147193"/>
              <a:ext cx="3498405" cy="507200"/>
              <a:chOff x="0" y="0"/>
              <a:chExt cx="3498405" cy="507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498400" cy="507200"/>
              </a:xfrm>
              <a:custGeom>
                <a:avLst/>
                <a:gdLst/>
                <a:ahLst/>
                <a:cxnLst/>
                <a:rect r="r" b="b" t="t" l="l"/>
                <a:pathLst>
                  <a:path h="507200" w="3498400">
                    <a:moveTo>
                      <a:pt x="0" y="0"/>
                    </a:moveTo>
                    <a:lnTo>
                      <a:pt x="3498400" y="0"/>
                    </a:lnTo>
                    <a:lnTo>
                      <a:pt x="3498400" y="507200"/>
                    </a:lnTo>
                    <a:lnTo>
                      <a:pt x="0" y="507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397" r="0" b="-84397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"/>
                <a:ext cx="3498405" cy="516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15110E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1%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5853473" y="2147193"/>
              <a:ext cx="3498405" cy="507200"/>
              <a:chOff x="0" y="0"/>
              <a:chExt cx="3498405" cy="507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498400" cy="507200"/>
              </a:xfrm>
              <a:custGeom>
                <a:avLst/>
                <a:gdLst/>
                <a:ahLst/>
                <a:cxnLst/>
                <a:rect r="r" b="b" t="t" l="l"/>
                <a:pathLst>
                  <a:path h="507200" w="3498400">
                    <a:moveTo>
                      <a:pt x="0" y="0"/>
                    </a:moveTo>
                    <a:lnTo>
                      <a:pt x="3498400" y="0"/>
                    </a:lnTo>
                    <a:lnTo>
                      <a:pt x="3498400" y="507200"/>
                    </a:lnTo>
                    <a:lnTo>
                      <a:pt x="0" y="507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397" r="0" b="-8439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3498405" cy="516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15110E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100%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355004" y="3894395"/>
              <a:ext cx="3498405" cy="507200"/>
              <a:chOff x="0" y="0"/>
              <a:chExt cx="3498405" cy="507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498400" cy="507200"/>
              </a:xfrm>
              <a:custGeom>
                <a:avLst/>
                <a:gdLst/>
                <a:ahLst/>
                <a:cxnLst/>
                <a:rect r="r" b="b" t="t" l="l"/>
                <a:pathLst>
                  <a:path h="507200" w="3498400">
                    <a:moveTo>
                      <a:pt x="0" y="0"/>
                    </a:moveTo>
                    <a:lnTo>
                      <a:pt x="3498400" y="0"/>
                    </a:lnTo>
                    <a:lnTo>
                      <a:pt x="3498400" y="507200"/>
                    </a:lnTo>
                    <a:lnTo>
                      <a:pt x="0" y="507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397" r="0" b="-84397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3498405" cy="516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15110E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60%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5853168" y="3894395"/>
              <a:ext cx="3498405" cy="507200"/>
              <a:chOff x="0" y="0"/>
              <a:chExt cx="3498405" cy="507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498400" cy="507200"/>
              </a:xfrm>
              <a:custGeom>
                <a:avLst/>
                <a:gdLst/>
                <a:ahLst/>
                <a:cxnLst/>
                <a:rect r="r" b="b" t="t" l="l"/>
                <a:pathLst>
                  <a:path h="507200" w="3498400">
                    <a:moveTo>
                      <a:pt x="0" y="0"/>
                    </a:moveTo>
                    <a:lnTo>
                      <a:pt x="3498400" y="0"/>
                    </a:lnTo>
                    <a:lnTo>
                      <a:pt x="3498400" y="507200"/>
                    </a:lnTo>
                    <a:lnTo>
                      <a:pt x="0" y="507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4397" r="0" b="-8439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3498405" cy="51672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15110E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100%</a:t>
                </a: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9820" cy="9149820"/>
            </a:xfrm>
            <a:custGeom>
              <a:avLst/>
              <a:gdLst/>
              <a:ahLst/>
              <a:cxnLst/>
              <a:rect r="r" b="b" t="t" l="l"/>
              <a:pathLst>
                <a:path h="9149820" w="9149820">
                  <a:moveTo>
                    <a:pt x="0" y="0"/>
                  </a:moveTo>
                  <a:lnTo>
                    <a:pt x="9149820" y="0"/>
                  </a:lnTo>
                  <a:lnTo>
                    <a:pt x="9149820" y="9149820"/>
                  </a:lnTo>
                  <a:lnTo>
                    <a:pt x="0" y="914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2474638" y="7070314"/>
              <a:ext cx="6876936" cy="169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5110E"/>
                  </a:solidFill>
                  <a:latin typeface="Arimo"/>
                  <a:ea typeface="Arimo"/>
                  <a:cs typeface="Arimo"/>
                  <a:sym typeface="Arimo"/>
                </a:rPr>
                <a:t>The approximate budget we will require for </a:t>
              </a:r>
              <a:r>
                <a:rPr lang="en-US" b="true" sz="2799">
                  <a:solidFill>
                    <a:srgbClr val="1511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100</a:t>
              </a:r>
              <a:r>
                <a:rPr lang="en-US" sz="2799">
                  <a:solidFill>
                    <a:srgbClr val="15110E"/>
                  </a:solidFill>
                  <a:latin typeface="Arimo"/>
                  <a:ea typeface="Arimo"/>
                  <a:cs typeface="Arimo"/>
                  <a:sym typeface="Arimo"/>
                </a:rPr>
                <a:t> pieces is </a:t>
              </a:r>
              <a:r>
                <a:rPr lang="en-US" b="true" sz="2799">
                  <a:solidFill>
                    <a:srgbClr val="15110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BDT 2,50,000</a:t>
              </a:r>
              <a:r>
                <a:rPr lang="en-US" sz="2799">
                  <a:solidFill>
                    <a:srgbClr val="15110E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584172" y="-19050"/>
              <a:ext cx="4767402" cy="918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135669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N.B:</a:t>
              </a:r>
              <a:r>
                <a:rPr lang="en-US" sz="2799">
                  <a:solidFill>
                    <a:srgbClr val="135669"/>
                  </a:solidFill>
                  <a:latin typeface="Arimo"/>
                  <a:ea typeface="Arimo"/>
                  <a:cs typeface="Arimo"/>
                  <a:sym typeface="Arimo"/>
                </a:rPr>
                <a:t> Prices may vary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101153" y="349904"/>
            <a:ext cx="12085694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Required Capital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133600" y="5939820"/>
          <a:ext cx="14020800" cy="3073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  <a:gridCol w="3505200"/>
              </a:tblGrid>
              <a:tr h="9291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Target Market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Collaboration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Marketing &amp;</a:t>
                      </a:r>
                      <a:endParaRPr lang="en-US" sz="1100"/>
                    </a:p>
                    <a:p>
                      <a:pPr algn="ctr">
                        <a:lnSpc>
                          <a:spcPts val="3600"/>
                        </a:lnSpc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Sales</a:t>
                      </a:r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Conclusion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21442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225052" y="3149698"/>
            <a:ext cx="13881154" cy="228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0"/>
              </a:lnSpc>
            </a:pPr>
            <a:r>
              <a:rPr lang="en-US" b="true" sz="3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As a start-up business we don’t have enough financial resources, warehouse, lack of equipment so we are reaching out to propose a strategic collaboration between “</a:t>
            </a:r>
            <a:r>
              <a:rPr lang="en-US" b="true" sz="30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Smart Shoe Technology”</a:t>
            </a:r>
            <a:r>
              <a:rPr lang="en-US" b="true" sz="3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 and some shoe companies like ‘</a:t>
            </a:r>
            <a:r>
              <a:rPr lang="en-US" b="true" sz="30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Bata</a:t>
            </a:r>
            <a:r>
              <a:rPr lang="en-US" b="true" sz="3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’, ‘</a:t>
            </a:r>
            <a:r>
              <a:rPr lang="en-US" b="true" sz="30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Apex</a:t>
            </a:r>
            <a:r>
              <a:rPr lang="en-US" b="true" sz="3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’ and for athletes ‘</a:t>
            </a:r>
            <a:r>
              <a:rPr lang="en-US" b="true" sz="3000">
                <a:solidFill>
                  <a:srgbClr val="1356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Lotto</a:t>
            </a:r>
            <a:r>
              <a:rPr lang="en-US" b="true" sz="3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’.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680722" y="7388562"/>
            <a:ext cx="1655845" cy="1655845"/>
            <a:chOff x="0" y="0"/>
            <a:chExt cx="2207793" cy="22077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7768" cy="2207768"/>
            </a:xfrm>
            <a:custGeom>
              <a:avLst/>
              <a:gdLst/>
              <a:ahLst/>
              <a:cxnLst/>
              <a:rect r="r" b="b" t="t" l="l"/>
              <a:pathLst>
                <a:path h="2207768" w="2207768">
                  <a:moveTo>
                    <a:pt x="0" y="0"/>
                  </a:moveTo>
                  <a:lnTo>
                    <a:pt x="2207768" y="0"/>
                  </a:lnTo>
                  <a:lnTo>
                    <a:pt x="2207768" y="2207768"/>
                  </a:lnTo>
                  <a:lnTo>
                    <a:pt x="0" y="2207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37093" y="7450198"/>
            <a:ext cx="1808055" cy="1808102"/>
            <a:chOff x="0" y="0"/>
            <a:chExt cx="2410739" cy="24108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10714" cy="2410841"/>
            </a:xfrm>
            <a:custGeom>
              <a:avLst/>
              <a:gdLst/>
              <a:ahLst/>
              <a:cxnLst/>
              <a:rect r="r" b="b" t="t" l="l"/>
              <a:pathLst>
                <a:path h="2410841" w="2410714">
                  <a:moveTo>
                    <a:pt x="0" y="0"/>
                  </a:moveTo>
                  <a:lnTo>
                    <a:pt x="2410714" y="0"/>
                  </a:lnTo>
                  <a:lnTo>
                    <a:pt x="2410714" y="2410841"/>
                  </a:lnTo>
                  <a:lnTo>
                    <a:pt x="0" y="2410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2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2206" y="7381332"/>
            <a:ext cx="1601448" cy="1601448"/>
            <a:chOff x="0" y="0"/>
            <a:chExt cx="2135264" cy="2135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5251" cy="2135251"/>
            </a:xfrm>
            <a:custGeom>
              <a:avLst/>
              <a:gdLst/>
              <a:ahLst/>
              <a:cxnLst/>
              <a:rect r="r" b="b" t="t" l="l"/>
              <a:pathLst>
                <a:path h="213525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35251"/>
                  </a:lnTo>
                  <a:lnTo>
                    <a:pt x="0" y="2135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94672" y="7450198"/>
            <a:ext cx="1525353" cy="1525353"/>
            <a:chOff x="0" y="0"/>
            <a:chExt cx="2033803" cy="20338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3778" cy="2033778"/>
            </a:xfrm>
            <a:custGeom>
              <a:avLst/>
              <a:gdLst/>
              <a:ahLst/>
              <a:cxnLst/>
              <a:rect r="r" b="b" t="t" l="l"/>
              <a:pathLst>
                <a:path h="2033778" w="2033778">
                  <a:moveTo>
                    <a:pt x="0" y="0"/>
                  </a:moveTo>
                  <a:lnTo>
                    <a:pt x="2033778" y="0"/>
                  </a:lnTo>
                  <a:lnTo>
                    <a:pt x="2033778" y="2033778"/>
                  </a:lnTo>
                  <a:lnTo>
                    <a:pt x="0" y="2033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878569" y="720632"/>
            <a:ext cx="963007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Start-Up Plan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50000" t="-88179" r="-50002" b="1039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46200" y="3568700"/>
          <a:ext cx="15595600" cy="5689600"/>
        </p:xfrm>
        <a:graphic>
          <a:graphicData uri="http://schemas.openxmlformats.org/drawingml/2006/table">
            <a:tbl>
              <a:tblPr/>
              <a:tblGrid>
                <a:gridCol w="15595600"/>
              </a:tblGrid>
              <a:tr h="11426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Preventive healthcare measures by providing real-time health metrics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10980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Diabetic patients and Gait abnormalities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</a:tr>
              <a:tr h="10533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Optimized training regimens athletes benefit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12097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Decision making to predict weight of user, with access to predictive datasets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</a:tr>
              <a:tr h="11858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Enhanced fitness tracking, leading to improved exercise routines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5412974" y="831246"/>
            <a:ext cx="7462051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Outcomes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50000" t="-88179" r="-50002" b="10398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346200" y="4281278"/>
          <a:ext cx="15595600" cy="4495800"/>
        </p:xfrm>
        <a:graphic>
          <a:graphicData uri="http://schemas.openxmlformats.org/drawingml/2006/table">
            <a:tbl>
              <a:tblPr/>
              <a:tblGrid>
                <a:gridCol w="15595600"/>
              </a:tblGrid>
              <a:tr h="11406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Emphasizes transformative impact on wearable tech industry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5669"/>
                    </a:solidFill>
                  </a:tcPr>
                </a:tc>
              </a:tr>
              <a:tr h="10960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FFFAF6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Integration of cutting-edge features allows to collect comprehensive data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6B8"/>
                    </a:solidFill>
                  </a:tcPr>
                </a:tc>
              </a:tr>
              <a:tr h="10514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Empowering users with real-time data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5F5"/>
                    </a:solidFill>
                  </a:tcPr>
                </a:tc>
              </a:tr>
              <a:tr h="12075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35669"/>
                          </a:solidFill>
                          <a:latin typeface="Alexandria Bold"/>
                          <a:ea typeface="Alexandria Bold"/>
                          <a:cs typeface="Alexandria Bold"/>
                          <a:sym typeface="Alexandria Bold"/>
                        </a:rPr>
                        <a:t>Blending fashion with technology of wearable tech as stylish daily accessory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1511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6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5169625" y="1163086"/>
            <a:ext cx="7948751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1000">
                <a:solidFill>
                  <a:srgbClr val="135669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38102" y="0"/>
            <a:ext cx="6649898" cy="10287000"/>
            <a:chOff x="0" y="0"/>
            <a:chExt cx="886653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6650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866505">
                  <a:moveTo>
                    <a:pt x="0" y="0"/>
                  </a:moveTo>
                  <a:lnTo>
                    <a:pt x="8866505" y="0"/>
                  </a:lnTo>
                  <a:lnTo>
                    <a:pt x="886650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8398" t="9139" r="-34831" b="912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1628" y="5251028"/>
            <a:ext cx="7530751" cy="232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b="true" sz="14000">
                <a:solidFill>
                  <a:srgbClr val="5296B8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Thanks!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1628" y="7270699"/>
            <a:ext cx="12574953" cy="129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>
                <a:solidFill>
                  <a:srgbClr val="135669"/>
                </a:solidFill>
                <a:latin typeface="Alexandria"/>
                <a:ea typeface="Alexandria"/>
                <a:cs typeface="Alexandria"/>
                <a:sym typeface="Alexandria"/>
              </a:rPr>
              <a:t>Do you have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DAHRbwvkmIw</dc:identifier>
  <dcterms:modified xsi:type="dcterms:W3CDTF">2011-08-01T06:04:30Z</dcterms:modified>
  <cp:revision>1</cp:revision>
  <dc:title>Sample Slide Idea 2</dc:title>
</cp:coreProperties>
</file>