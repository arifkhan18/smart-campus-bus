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2190" y="1005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C8DCFF"/>
                </a:solidFill>
                <a:latin typeface="Inter"/>
              </a:rPr>
              <a:t>SOFTWARE DEVELOPMENT PROJECT 400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Outfit"/>
              </a:rPr>
              <a:t>Smart Campus Bus
Tracking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C8DCFF"/>
                </a:solidFill>
                <a:latin typeface="Inter"/>
              </a:rPr>
              <a:t>A real-time GPS-based bus tracking &amp; campus transit management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FFFFFF"/>
                </a:solidFill>
              </a:rPr>
              <a:t>Supervisor: </a:t>
            </a:r>
            <a:r>
              <a:rPr sz="1400">
                <a:solidFill>
                  <a:srgbClr val="DCEBFF"/>
                </a:solidFill>
              </a:rPr>
              <a:t>Humayra Ahmed, Assistant Professor</a:t>
            </a:r>
          </a:p>
          <a:p>
            <a:pPr algn="ctr">
              <a:spcAft>
                <a:spcPts val="800"/>
              </a:spcAft>
            </a:pPr>
            <a:r>
              <a:rPr b="1" sz="1300">
                <a:solidFill>
                  <a:srgbClr val="BED7FA"/>
                </a:solidFill>
              </a:rPr>
              <a:t>Intake 51 | Section 3</a:t>
            </a:r>
          </a:p>
          <a:p>
            <a:pPr algn="ctr"/>
            <a:r>
              <a:rPr sz="1300">
                <a:solidFill>
                  <a:srgbClr val="DCEBFF"/>
                </a:solidFill>
              </a:rPr>
              <a:t>Md Arif Khan  •  Karnia Binte Rafique  •  Suraiya Karim  •  Prosenjit Biswas  •  Proshanta Saha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Problem Statement &amp;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Addressing campus transit inefficiencies through an automated, real-time tracking and communication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80990" cy="475488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92400E"/>
                </a:solidFill>
              </a:rPr>
              <a:t>❌ Existing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59E0B"/>
                </a:solidFill>
                <a:latin typeface="Inter"/>
              </a:rPr>
              <a:t>1.  </a:t>
            </a:r>
            <a:r>
              <a:rPr b="1" sz="1100">
                <a:solidFill>
                  <a:srgbClr val="1A202C"/>
                </a:solidFill>
                <a:latin typeface="Inter"/>
              </a:rPr>
              <a:t>Blind Waiting: </a:t>
            </a:r>
            <a:r>
              <a:rPr sz="1100">
                <a:solidFill>
                  <a:srgbClr val="4A5568"/>
                </a:solidFill>
                <a:latin typeface="Inter"/>
              </a:rPr>
              <a:t>No live bus location or arrival ETA available at campus stops.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59E0B"/>
                </a:solidFill>
                <a:latin typeface="Inter"/>
              </a:rPr>
              <a:t>2.  </a:t>
            </a:r>
            <a:r>
              <a:rPr b="1" sz="1100">
                <a:solidFill>
                  <a:srgbClr val="1A202C"/>
                </a:solidFill>
                <a:latin typeface="Inter"/>
              </a:rPr>
              <a:t>Unreliable Schedules: </a:t>
            </a:r>
            <a:r>
              <a:rPr sz="1100">
                <a:solidFill>
                  <a:srgbClr val="4A5568"/>
                </a:solidFill>
                <a:latin typeface="Inter"/>
              </a:rPr>
              <a:t>Paper notices with unexpected delays cause missed classes.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59E0B"/>
                </a:solidFill>
                <a:latin typeface="Inter"/>
              </a:rPr>
              <a:t>3.  </a:t>
            </a:r>
            <a:r>
              <a:rPr b="1" sz="1100">
                <a:solidFill>
                  <a:srgbClr val="1A202C"/>
                </a:solidFill>
                <a:latin typeface="Inter"/>
              </a:rPr>
              <a:t>Communication Gap: </a:t>
            </a:r>
            <a:r>
              <a:rPr sz="1100">
                <a:solidFill>
                  <a:srgbClr val="4A5568"/>
                </a:solidFill>
                <a:latin typeface="Inter"/>
              </a:rPr>
              <a:t>No passenger-driver coordination channel during breakdown events.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59E0B"/>
                </a:solidFill>
                <a:latin typeface="Inter"/>
              </a:rPr>
              <a:t>4.  </a:t>
            </a:r>
            <a:r>
              <a:rPr b="1" sz="1100">
                <a:solidFill>
                  <a:srgbClr val="1A202C"/>
                </a:solidFill>
                <a:latin typeface="Inter"/>
              </a:rPr>
              <a:t>Administrative Blindness: </a:t>
            </a:r>
            <a:r>
              <a:rPr sz="1100">
                <a:solidFill>
                  <a:srgbClr val="4A5568"/>
                </a:solidFill>
                <a:latin typeface="Inter"/>
              </a:rPr>
              <a:t>Zero real-time fleet overview, speed metrics, or instant safety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1554480"/>
            <a:ext cx="5180990" cy="4754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259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65F46"/>
                </a:solidFill>
              </a:rPr>
              <a:t>🎯 Target Objectives &amp;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259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Real-Time GPS Tracking: </a:t>
            </a:r>
            <a:r>
              <a:rPr sz="1100">
                <a:solidFill>
                  <a:srgbClr val="4A5568"/>
                </a:solidFill>
                <a:latin typeface="Inter"/>
              </a:rPr>
              <a:t>High-precision location updates broadcasted every 5s on Leaflet OSM.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Haversine ETA Engine: </a:t>
            </a:r>
            <a:r>
              <a:rPr sz="1100">
                <a:solidFill>
                  <a:srgbClr val="4A5568"/>
                </a:solidFill>
                <a:latin typeface="Inter"/>
              </a:rPr>
              <a:t>Accurate stop-wise distance and arrival time calculations in real-time.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Live Community Chat: </a:t>
            </a:r>
            <a:r>
              <a:rPr sz="1100">
                <a:solidFill>
                  <a:srgbClr val="4A5568"/>
                </a:solidFill>
                <a:latin typeface="Inter"/>
              </a:rPr>
              <a:t>Bus-specific instant communication grouped by active transit trips.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Fleet Management Portal: </a:t>
            </a:r>
            <a:r>
              <a:rPr sz="1100">
                <a:solidFill>
                  <a:srgbClr val="4A5568"/>
                </a:solidFill>
                <a:latin typeface="Inter"/>
              </a:rPr>
              <a:t>Interactive route coordinator, user role controls, and visual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System 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A scalable, decoupled client-server architecture powered by ASP.NET Core and Firebase real-time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202C"/>
                </a:solidFill>
              </a:rPr>
              <a:t>🖥️ HTML5 / CSS3 / JS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A5568"/>
                </a:solidFill>
              </a:rPr>
              <a:t>Vanilla UI, Responsive &amp; Dynamic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9175" y="1554480"/>
            <a:ext cx="256032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6335" y="166420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202C"/>
                </a:solidFill>
              </a:rPr>
              <a:t>🟣 ASP.NET Core 8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A5568"/>
                </a:solidFill>
              </a:rPr>
              <a:t>C# REST Web API &amp; JWT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6830" y="1554480"/>
            <a:ext cx="256032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3990" y="166420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202C"/>
                </a:solidFill>
              </a:rPr>
              <a:t>🔥 Firebase Firestore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A5568"/>
                </a:solidFill>
              </a:rPr>
              <a:t>NoSQL Real-Time Sync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4485" y="1554480"/>
            <a:ext cx="256032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1645" y="166420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202C"/>
                </a:solidFill>
              </a:rPr>
              <a:t>🗺️ Leaflet.js + OSM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A5568"/>
                </a:solidFill>
              </a:rPr>
              <a:t>Interactive GPS 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28655" cy="342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108960"/>
            <a:ext cx="4937760" cy="10972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20040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2563EB"/>
                </a:solidFill>
              </a:rPr>
              <a:t>Client Layer (Frontend UI)</a:t>
            </a:r>
          </a:p>
          <a:p>
            <a:r>
              <a:rPr sz="1000">
                <a:solidFill>
                  <a:srgbClr val="4A5568"/>
                </a:solidFill>
              </a:rPr>
              <a:t>Vanilla JS, Leaflet.js Mapping, Chart.js, HTML5 Geolocation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108960"/>
            <a:ext cx="4937760" cy="109728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5255" y="320040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92400E"/>
                </a:solidFill>
              </a:rPr>
              <a:t>Real-Time Layer (Firebase Web SDK)</a:t>
            </a:r>
          </a:p>
          <a:p>
            <a:r>
              <a:rPr sz="1000">
                <a:solidFill>
                  <a:srgbClr val="4A5568"/>
                </a:solidFill>
              </a:rPr>
              <a:t>Firestore Snapshot Listeners for real-time GPS location pan &amp; live bus group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</a:rPr>
              <a:t>⬇️ REST API Queries &amp; Real-Time Data Synchronization ⬇️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754880"/>
            <a:ext cx="4937760" cy="12801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846320"/>
            <a:ext cx="4663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65F46"/>
                </a:solidFill>
              </a:rPr>
              <a:t>Backend API Layer (ASP.NET Core 8 C#)</a:t>
            </a:r>
          </a:p>
          <a:p>
            <a:r>
              <a:rPr sz="1000">
                <a:solidFill>
                  <a:srgbClr val="4A5568"/>
                </a:solidFill>
              </a:rPr>
              <a:t>REST Controllers, JWT Bearer Auth tokens, Role Authorization, Haversine Distance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4754880"/>
            <a:ext cx="4937760" cy="12801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5255" y="4846320"/>
            <a:ext cx="4663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1A202C"/>
                </a:solidFill>
              </a:rPr>
              <a:t>Data &amp; Third-Party Services</a:t>
            </a:r>
          </a:p>
          <a:p>
            <a:r>
              <a:rPr sz="1000">
                <a:solidFill>
                  <a:srgbClr val="4A5568"/>
                </a:solidFill>
              </a:rPr>
              <a:t>Cloud Firestore NoSQL database + Brevo SMTP API for 6-digit OTP verification emails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Development Methodology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Iterative Agile development process emphasizing high reliability, real-time synchronization, and modularity.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8099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202C"/>
                </a:solidFill>
              </a:rPr>
              <a:t>📋 Agile Phases (1 —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Phase 1: Architecture &amp; NoSQL Schema: </a:t>
            </a:r>
            <a:r>
              <a:rPr sz="1100">
                <a:solidFill>
                  <a:srgbClr val="4A5568"/>
                </a:solidFill>
                <a:latin typeface="Inter"/>
              </a:rPr>
              <a:t>Designed normalized User, Bus, Route, and Notice models in Firestore with indexed queries.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Phase 2: Responsive Prototyping: </a:t>
            </a:r>
            <a:r>
              <a:rPr sz="1100">
                <a:solidFill>
                  <a:srgbClr val="4A5568"/>
                </a:solidFill>
                <a:latin typeface="Inter"/>
              </a:rPr>
              <a:t>Built mobile-first interfaces with full multi-theme support (Classic Navy, Terracotta, Oceanic).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Phase 3: Secure REST API: </a:t>
            </a:r>
            <a:r>
              <a:rPr sz="1100">
                <a:solidFill>
                  <a:srgbClr val="4A5568"/>
                </a:solidFill>
                <a:latin typeface="Inter"/>
              </a:rPr>
              <a:t>Implemented ASP.NET Core endpoints with Brevo SMTP 6-digit OTP verification and JWT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1554480"/>
            <a:ext cx="5180990" cy="4754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259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65F46"/>
                </a:solidFill>
              </a:rPr>
              <a:t>🚀 Agile Phases (4 — 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259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Phase 4: GPS Tracking &amp; ETA Calculation: </a:t>
            </a:r>
            <a:r>
              <a:rPr sz="1100">
                <a:solidFill>
                  <a:srgbClr val="4A5568"/>
                </a:solidFill>
                <a:latin typeface="Inter"/>
              </a:rPr>
              <a:t>Integrated HTML5 Geolocation API with Leaflet pan and Haversine distance engine.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Phase 5: Real-time Messaging &amp; Broadcast: </a:t>
            </a:r>
            <a:r>
              <a:rPr sz="1100">
                <a:solidFill>
                  <a:srgbClr val="4A5568"/>
                </a:solidFill>
                <a:latin typeface="Inter"/>
              </a:rPr>
              <a:t>Built bus-wise community group chats and urgent notice board.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Phase 6: Verification &amp; Testing: </a:t>
            </a:r>
            <a:r>
              <a:rPr sz="1100">
                <a:solidFill>
                  <a:srgbClr val="4A5568"/>
                </a:solidFill>
                <a:latin typeface="Inter"/>
              </a:rPr>
              <a:t>Executed xUnit backend unit tests and Playwright E2E integration test suites.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Walkthrough: Onboarding &amp; Multi-Role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Role-based access system (Student, Driver, Admin) with secure registration, Brevo SMTP OTP verification, and JWT session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8099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8-16 110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27632"/>
            <a:ext cx="5034686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31520" y="5943600"/>
            <a:ext cx="518099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98464"/>
            <a:ext cx="51809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ROLE SELECTION — STUDENT / DRIVER /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554480"/>
            <a:ext cx="518099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 2026-08-16 1103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22" y="1627632"/>
            <a:ext cx="5034686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278270" y="5943600"/>
            <a:ext cx="518099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8270" y="5998464"/>
            <a:ext cx="51809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SECURE MULTI-ROLE LOGIN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Walkthrough: Real-Time GPS Tracking &amp; Dynamic 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Live Leaflet map pins bus coordinates updated every 5s. Haversine engine calculates exact stop distances and arrival estimates.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8-16 1054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27632"/>
            <a:ext cx="10582351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31520" y="5943600"/>
            <a:ext cx="10728655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98464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LIVE MAP TRACKING: REAL-TIME LOCATION &amp; STOP ETA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Walkthrough: Driver Console &amp; Community Chat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Driver dashboard with single-tap trip start, delay broadcast, and bilingual UI, paired with real-time bus-wise group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8099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hatsApp Image 2026-08-16 at 10.55.43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27632"/>
            <a:ext cx="5034686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31520" y="5943600"/>
            <a:ext cx="518099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98464"/>
            <a:ext cx="51809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DRIVER TRIP CONTROLLER &amp; DELAY ALERTS (MOBILE)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554480"/>
            <a:ext cx="518099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 2026-08-16 1100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22" y="1627632"/>
            <a:ext cx="5034686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278270" y="5943600"/>
            <a:ext cx="518099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8270" y="5998464"/>
            <a:ext cx="51809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BUS-WISE REAL-TIME PASSENGER COMMUNITY 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Walkthrough: Map Route Builder &amp; Fleet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Admin map coordinator enables clicking and dragging stop coordinates directly on OSM, alongside complete bus fleet CRUD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8099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8-16 1034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27632"/>
            <a:ext cx="5034686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31520" y="5943600"/>
            <a:ext cx="518099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98464"/>
            <a:ext cx="51809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INTERACTIVE MAP ROUTE COORDINATOR &amp; STOP EDITOR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554480"/>
            <a:ext cx="518099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 2026-08-16 1023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22" y="1627632"/>
            <a:ext cx="5034686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278270" y="5943600"/>
            <a:ext cx="518099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8270" y="5998464"/>
            <a:ext cx="51809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BUS FLEET ADD / MODIFY / DELETE CRUD CONSOLE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Walkthrough: Admin Analytics &amp; Safety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Admins monitor user statistics with Chart.js, broadcast urgent notices, manage user roles, and resolve student safety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8099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 2026-08-16 103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27632"/>
            <a:ext cx="5034686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31520" y="5943600"/>
            <a:ext cx="518099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98464"/>
            <a:ext cx="51809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CHART.JS VISUAL ANALYTICS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554480"/>
            <a:ext cx="518099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 2026-08-16 1044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22" y="1627632"/>
            <a:ext cx="5034686" cy="42793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278270" y="5943600"/>
            <a:ext cx="518099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8270" y="5998464"/>
            <a:ext cx="51809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A5568"/>
                </a:solidFill>
                <a:latin typeface="Inter"/>
              </a:rPr>
              <a:t>STUDENT SAFETY &amp; BUG REPORTING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Key Differentiators &amp; Measurable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SmartBus combines mathematical precision with seamless real-time interaction to deliver a superior campus commute.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80990" cy="4754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65F46"/>
                </a:solidFill>
              </a:rPr>
              <a:t>✨ Key Differentiators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latin typeface="Inter"/>
              </a:rPr>
              <a:t>🧮  </a:t>
            </a:r>
            <a:r>
              <a:rPr b="1" sz="1100">
                <a:solidFill>
                  <a:srgbClr val="1A202C"/>
                </a:solidFill>
                <a:latin typeface="Inter"/>
              </a:rPr>
              <a:t>Haversine Formula ETA: </a:t>
            </a:r>
            <a:r>
              <a:rPr sz="1100">
                <a:solidFill>
                  <a:srgbClr val="4A5568"/>
                </a:solidFill>
                <a:latin typeface="Inter"/>
              </a:rPr>
              <a:t>Mathematical calculation based on geographical GPS coordinates.</a:t>
            </a:r>
          </a:p>
          <a:p>
            <a:pPr>
              <a:spcAft>
                <a:spcPts val="1000"/>
              </a:spcAft>
            </a:pPr>
            <a:r>
              <a:rPr sz="1100">
                <a:latin typeface="Inter"/>
              </a:rPr>
              <a:t>💬  </a:t>
            </a:r>
            <a:r>
              <a:rPr b="1" sz="1100">
                <a:solidFill>
                  <a:srgbClr val="1A202C"/>
                </a:solidFill>
                <a:latin typeface="Inter"/>
              </a:rPr>
              <a:t>Bus-Wise Chatrooms: </a:t>
            </a:r>
            <a:r>
              <a:rPr sz="1100">
                <a:solidFill>
                  <a:srgbClr val="4A5568"/>
                </a:solidFill>
                <a:latin typeface="Inter"/>
              </a:rPr>
              <a:t>Real-time Firestore communication per active bus.</a:t>
            </a:r>
          </a:p>
          <a:p>
            <a:pPr>
              <a:spcAft>
                <a:spcPts val="1000"/>
              </a:spcAft>
            </a:pPr>
            <a:r>
              <a:rPr sz="1100">
                <a:latin typeface="Inter"/>
              </a:rPr>
              <a:t>🌐  </a:t>
            </a:r>
            <a:r>
              <a:rPr b="1" sz="1100">
                <a:solidFill>
                  <a:srgbClr val="1A202C"/>
                </a:solidFill>
                <a:latin typeface="Inter"/>
              </a:rPr>
              <a:t>Bilingual Driver UI: </a:t>
            </a:r>
            <a:r>
              <a:rPr sz="1100">
                <a:solidFill>
                  <a:srgbClr val="4A5568"/>
                </a:solidFill>
                <a:latin typeface="Inter"/>
              </a:rPr>
              <a:t>Full English &amp; বাংলা localization for seamless driver usability.</a:t>
            </a:r>
          </a:p>
          <a:p>
            <a:pPr>
              <a:spcAft>
                <a:spcPts val="1000"/>
              </a:spcAft>
            </a:pPr>
            <a:r>
              <a:rPr sz="1100">
                <a:latin typeface="Inter"/>
              </a:rPr>
              <a:t>🗺️  </a:t>
            </a:r>
            <a:r>
              <a:rPr b="1" sz="1100">
                <a:solidFill>
                  <a:srgbClr val="1A202C"/>
                </a:solidFill>
                <a:latin typeface="Inter"/>
              </a:rPr>
              <a:t>Visual Route Builder: </a:t>
            </a:r>
            <a:r>
              <a:rPr sz="1100">
                <a:solidFill>
                  <a:srgbClr val="4A5568"/>
                </a:solidFill>
                <a:latin typeface="Inter"/>
              </a:rPr>
              <a:t>Click-to-place stops directly on Leaflet OpenStreetMap.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1554480"/>
            <a:ext cx="518099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259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202C"/>
                </a:solidFill>
              </a:rPr>
              <a:t>📈 Measurable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259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latin typeface="Inter"/>
              </a:rPr>
              <a:t>⚡  </a:t>
            </a:r>
            <a:r>
              <a:rPr b="1" sz="1100">
                <a:solidFill>
                  <a:srgbClr val="1A202C"/>
                </a:solidFill>
                <a:latin typeface="Inter"/>
              </a:rPr>
              <a:t>Zero Blind Waiting: </a:t>
            </a:r>
            <a:r>
              <a:rPr sz="1100">
                <a:solidFill>
                  <a:srgbClr val="4A5568"/>
                </a:solidFill>
                <a:latin typeface="Inter"/>
              </a:rPr>
              <a:t>Students track bus locations before heading to stops, eliminating idle wait.</a:t>
            </a:r>
          </a:p>
          <a:p>
            <a:pPr>
              <a:spcAft>
                <a:spcPts val="1000"/>
              </a:spcAft>
            </a:pPr>
            <a:r>
              <a:rPr sz="1100">
                <a:latin typeface="Inter"/>
              </a:rPr>
              <a:t>📢  </a:t>
            </a:r>
            <a:r>
              <a:rPr b="1" sz="1100">
                <a:solidFill>
                  <a:srgbClr val="1A202C"/>
                </a:solidFill>
                <a:latin typeface="Inter"/>
              </a:rPr>
              <a:t>Instant Delay Alerts: </a:t>
            </a:r>
            <a:r>
              <a:rPr sz="1100">
                <a:solidFill>
                  <a:srgbClr val="4A5568"/>
                </a:solidFill>
                <a:latin typeface="Inter"/>
              </a:rPr>
              <a:t>Push notices reduce campus confusion during unexpected traffic.</a:t>
            </a:r>
          </a:p>
          <a:p>
            <a:pPr>
              <a:spcAft>
                <a:spcPts val="1000"/>
              </a:spcAft>
            </a:pPr>
            <a:r>
              <a:rPr sz="1100">
                <a:latin typeface="Inter"/>
              </a:rPr>
              <a:t>🛡️  </a:t>
            </a:r>
            <a:r>
              <a:rPr b="1" sz="1100">
                <a:solidFill>
                  <a:srgbClr val="1A202C"/>
                </a:solidFill>
                <a:latin typeface="Inter"/>
              </a:rPr>
              <a:t>Enhanced Student Safety: </a:t>
            </a:r>
            <a:r>
              <a:rPr sz="1100">
                <a:solidFill>
                  <a:srgbClr val="4A5568"/>
                </a:solidFill>
                <a:latin typeface="Inter"/>
              </a:rPr>
              <a:t>Direct reporting pipeline with immediate admin response.</a:t>
            </a:r>
          </a:p>
          <a:p>
            <a:pPr>
              <a:spcAft>
                <a:spcPts val="1000"/>
              </a:spcAft>
            </a:pPr>
            <a:r>
              <a:rPr sz="1100">
                <a:latin typeface="Inter"/>
              </a:rPr>
              <a:t>📊  </a:t>
            </a:r>
            <a:r>
              <a:rPr b="1" sz="1100">
                <a:solidFill>
                  <a:srgbClr val="1A202C"/>
                </a:solidFill>
                <a:latin typeface="Inter"/>
              </a:rPr>
              <a:t>Data-Driven Transit: </a:t>
            </a:r>
            <a:r>
              <a:rPr sz="1100">
                <a:solidFill>
                  <a:srgbClr val="4A5568"/>
                </a:solidFill>
                <a:latin typeface="Inter"/>
              </a:rPr>
              <a:t>Analytics help optimize bus schedules and fleet allocation.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Business Model &amp; Monetization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A high-margin B2B SaaS transit management platform converting university fleets into recurring subscription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42032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2C"/>
                </a:solidFill>
              </a:rPr>
              <a:t>🎯 Target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176272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150+ Universities: </a:t>
            </a:r>
            <a:r>
              <a:rPr sz="1000">
                <a:solidFill>
                  <a:srgbClr val="4A5568"/>
                </a:solidFill>
                <a:latin typeface="Inter"/>
              </a:rPr>
              <a:t>Public &amp; Private campus networks (BUBT, NSU, BRAC, DU).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K-12 Schools: </a:t>
            </a:r>
            <a:r>
              <a:rPr sz="1000">
                <a:solidFill>
                  <a:srgbClr val="4A5568"/>
                </a:solidFill>
                <a:latin typeface="Inter"/>
              </a:rPr>
              <a:t>Student safety &amp; parental live tracking subscriptions.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Corporate Fleets: </a:t>
            </a:r>
            <a:r>
              <a:rPr sz="1000">
                <a:solidFill>
                  <a:srgbClr val="4A5568"/>
                </a:solidFill>
                <a:latin typeface="Inter"/>
              </a:rPr>
              <a:t>IT &amp; industrial employee shift shuttle fleets.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554480"/>
            <a:ext cx="2542032" cy="4754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73736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5F46"/>
                </a:solidFill>
              </a:rPr>
              <a:t>💎 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240280"/>
            <a:ext cx="2176272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Zero Hardware Cost: </a:t>
            </a:r>
            <a:r>
              <a:rPr sz="1000">
                <a:solidFill>
                  <a:srgbClr val="4A5568"/>
                </a:solidFill>
                <a:latin typeface="Inter"/>
              </a:rPr>
              <a:t>100% Smartphone GPS based — no GPS tracker box needed.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Zero Blind Waiting: </a:t>
            </a:r>
            <a:r>
              <a:rPr sz="1000">
                <a:solidFill>
                  <a:srgbClr val="4A5568"/>
                </a:solidFill>
                <a:latin typeface="Inter"/>
              </a:rPr>
              <a:t>Real-time ETA &amp; live delay alerts eliminate idle wait time.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20-30% Fleet Savings: </a:t>
            </a:r>
            <a:r>
              <a:rPr sz="1000">
                <a:solidFill>
                  <a:srgbClr val="4A5568"/>
                </a:solidFill>
                <a:latin typeface="Inter"/>
              </a:rPr>
              <a:t>Route &amp; schedule analytics optimize fuel &amp; transit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554480"/>
            <a:ext cx="2542032" cy="475488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73736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92400E"/>
                </a:solidFill>
              </a:rPr>
              <a:t>💰 Revenue Streams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2176272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B2B SaaS Subscription: </a:t>
            </a:r>
            <a:r>
              <a:rPr sz="1000">
                <a:solidFill>
                  <a:srgbClr val="4A5568"/>
                </a:solidFill>
                <a:latin typeface="Inter"/>
              </a:rPr>
              <a:t>$15 - $25 (৳1,500 - ৳2,500) / bus / month recurring fee.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White-Label Solution: </a:t>
            </a:r>
            <a:r>
              <a:rPr sz="1000">
                <a:solidFill>
                  <a:srgbClr val="4A5568"/>
                </a:solidFill>
                <a:latin typeface="Inter"/>
              </a:rPr>
              <a:t>৳50,000 custom campus setup &amp; branded portal license.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Hyperlocal Campus Ads: </a:t>
            </a:r>
            <a:r>
              <a:rPr sz="1000">
                <a:solidFill>
                  <a:srgbClr val="4A5568"/>
                </a:solidFill>
                <a:latin typeface="Inter"/>
              </a:rPr>
              <a:t>Targeted deals for local food courts, bookshops &amp; cafes.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554480"/>
            <a:ext cx="2542032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173736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2C"/>
                </a:solidFill>
              </a:rPr>
              <a:t>📈 Unit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2240280"/>
            <a:ext cx="2176272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85%+ Gross Margin: </a:t>
            </a:r>
            <a:r>
              <a:rPr sz="1000">
                <a:solidFill>
                  <a:srgbClr val="4A5568"/>
                </a:solidFill>
                <a:latin typeface="Inter"/>
              </a:rPr>
              <a:t>Zero map licensing fee (Leaflet/OSM) &amp; low server cost.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Scalable ARR: </a:t>
            </a:r>
            <a:r>
              <a:rPr sz="1000">
                <a:solidFill>
                  <a:srgbClr val="4A5568"/>
                </a:solidFill>
                <a:latin typeface="Inter"/>
              </a:rPr>
              <a:t>10 Universities (~150 buses) = ৳36 Lakhs / Year recurring.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10B981"/>
                </a:solidFill>
                <a:latin typeface="Inter"/>
              </a:rPr>
              <a:t>✓  </a:t>
            </a:r>
            <a:r>
              <a:rPr b="1" sz="1000">
                <a:solidFill>
                  <a:srgbClr val="1A202C"/>
                </a:solidFill>
                <a:latin typeface="Inter"/>
              </a:rPr>
              <a:t>Rapid Onboarding: </a:t>
            </a:r>
            <a:r>
              <a:rPr sz="1000">
                <a:solidFill>
                  <a:srgbClr val="4A5568"/>
                </a:solidFill>
                <a:latin typeface="Inter"/>
              </a:rPr>
              <a:t>Full university campus fleet goes live in &lt; 10 minutes.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A202C"/>
                </a:solidFill>
                <a:latin typeface="Outfit"/>
              </a:rPr>
              <a:t>Conclusion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6112"/>
            <a:ext cx="10728655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347472"/>
            <a:ext cx="112745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600" b="1">
                <a:solidFill>
                  <a:srgbClr val="4A5568"/>
                </a:solidFill>
                <a:latin typeface="Inter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4A5568"/>
                </a:solidFill>
                <a:latin typeface="Inter"/>
              </a:rPr>
              <a:t>A complete, tested, and reliable university transit solution with clear paths for future expansion.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8099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202C"/>
                </a:solidFill>
              </a:rPr>
              <a:t>🏁 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sz="1100">
                <a:solidFill>
                  <a:srgbClr val="4A5568"/>
                </a:solidFill>
                <a:latin typeface="Inter"/>
              </a:rPr>
              <a:t>Successfully developed and integrated a real-time GPS transit platform for university campuses.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sz="1100">
                <a:solidFill>
                  <a:srgbClr val="4A5568"/>
                </a:solidFill>
                <a:latin typeface="Inter"/>
              </a:rPr>
              <a:t>Integrated ASP.NET Core REST API, Firestore real-time sync, and Brevo OTP authentication.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sz="1100">
                <a:solidFill>
                  <a:srgbClr val="4A5568"/>
                </a:solidFill>
                <a:latin typeface="Inter"/>
              </a:rPr>
              <a:t>Validated through comprehensive xUnit backend testing and Playwright E2E browser automation.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1554480"/>
            <a:ext cx="5180990" cy="4754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259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65F46"/>
                </a:solidFill>
              </a:rPr>
              <a:t>🔮 Future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2590" y="224028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IoT Passenger Crowding Sensor: </a:t>
            </a:r>
            <a:r>
              <a:rPr sz="1100">
                <a:solidFill>
                  <a:srgbClr val="4A5568"/>
                </a:solidFill>
                <a:latin typeface="Inter"/>
              </a:rPr>
              <a:t>Real-time bus seat occupancy tracking via smart sensors.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Automated Speed Alerts: </a:t>
            </a:r>
            <a:r>
              <a:rPr sz="1100">
                <a:solidFill>
                  <a:srgbClr val="4A5568"/>
                </a:solidFill>
                <a:latin typeface="Inter"/>
              </a:rPr>
              <a:t>Instant notifications for bus overspeeding events to ensure safety.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Offline SMS Fallback: </a:t>
            </a:r>
            <a:r>
              <a:rPr sz="1100">
                <a:solidFill>
                  <a:srgbClr val="4A5568"/>
                </a:solidFill>
                <a:latin typeface="Inter"/>
              </a:rPr>
              <a:t>Check bus timings and alerts via standard offline SMS queries.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Inter"/>
              </a:rPr>
              <a:t>✓  </a:t>
            </a:r>
            <a:r>
              <a:rPr b="1" sz="1100">
                <a:solidFill>
                  <a:srgbClr val="1A202C"/>
                </a:solidFill>
                <a:latin typeface="Inter"/>
              </a:rPr>
              <a:t>Digital Ticketing Engine: </a:t>
            </a:r>
            <a:r>
              <a:rPr sz="1100">
                <a:solidFill>
                  <a:srgbClr val="4A5568"/>
                </a:solidFill>
                <a:latin typeface="Inter"/>
              </a:rPr>
              <a:t>Integrated payment gateway for special inter-campus routes.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28016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Outfit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C8DCFF"/>
                </a:solidFill>
                <a:latin typeface="Inter"/>
              </a:rPr>
              <a:t>Smart Campus Bus Tracking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484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Software Development Project 400</a:t>
            </a:r>
          </a:p>
          <a:p>
            <a:pPr algn="ctr"/>
            <a:r>
              <a:rPr sz="1300">
                <a:solidFill>
                  <a:srgbClr val="BED7FA"/>
                </a:solidFill>
              </a:rPr>
              <a:t>Intake 51 | Section 3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C8DCFF"/>
                </a:solidFill>
              </a:rPr>
              <a:t>Supervised by </a:t>
            </a:r>
            <a:r>
              <a:rPr b="1" sz="1400">
                <a:solidFill>
                  <a:srgbClr val="FFFFFF"/>
                </a:solidFill>
              </a:rPr>
              <a:t>Humayra Ahmed</a:t>
            </a:r>
            <a:r>
              <a:rPr sz="1400">
                <a:solidFill>
                  <a:srgbClr val="C8DCFF"/>
                </a:solidFill>
              </a:rPr>
              <a:t>, Assistant Professor</a:t>
            </a:r>
          </a:p>
          <a:p>
            <a:pPr algn="ctr">
              <a:spcAft>
                <a:spcPts val="1400"/>
              </a:spcAft>
            </a:pPr>
            <a:r>
              <a:rPr sz="1300">
                <a:solidFill>
                  <a:srgbClr val="DCEBFF"/>
                </a:solidFill>
              </a:rPr>
              <a:t>Md Arif Khan  •  Karnia Binte Rafique  •  Suraiya Karim  •  Prosenjit Biswas  •  Proshanta Saha</a:t>
            </a:r>
          </a:p>
          <a:p>
            <a:pPr algn="ctr"/>
            <a:r>
              <a:rPr sz="1700" b="1">
                <a:solidFill>
                  <a:srgbClr val="93C5FD"/>
                </a:solidFill>
              </a:rPr>
              <a:t>Questions &amp; Feedback Welcome 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