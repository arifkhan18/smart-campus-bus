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2801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C8DCFF"/>
                </a:solidFill>
                <a:latin typeface="Inter"/>
              </a:rPr>
              <a:t>SOFTWARE DEVELOPMENT PROJECT 400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Outfit"/>
              </a:rPr>
              <a:t>Smart Campus Bus
Tracking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C8DCFF"/>
                </a:solidFill>
                <a:latin typeface="Inter"/>
              </a:rPr>
              <a:t>A real-time GPS-based bus tracking web application
for university campus transportation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C8E6"/>
                </a:solidFill>
                <a:latin typeface="Inter"/>
              </a:rPr>
              <a:t>Supervisor: Humayra Ahmed, Assistant Professor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>Intake 51 | Section 3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>Md Arif Khan  |  Karnia Binte Rafique  |  Suraiya Karim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>Prosenjit Biswas  |  Proshanta Saha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Problem Statement &amp; 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931920" cy="237744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202C"/>
                </a:solidFill>
                <a:latin typeface="Outfit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566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A5568"/>
                </a:solidFill>
                <a:latin typeface="Inter"/>
              </a:rPr>
              <a:t>Students have no idea where the campus bus is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A5568"/>
                </a:solidFill>
                <a:latin typeface="Inter"/>
              </a:rPr>
              <a:t>No real-time location tracking or ETA info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A5568"/>
                </a:solidFill>
                <a:latin typeface="Inter"/>
              </a:rPr>
              <a:t>No centralized schedule or route system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A5568"/>
                </a:solidFill>
                <a:latin typeface="Inter"/>
              </a:rPr>
              <a:t>No communication channel between riders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A5568"/>
                </a:solidFill>
                <a:latin typeface="Inter"/>
              </a:rPr>
              <a:t>Admin has zero fleet visibility or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749039"/>
            <a:ext cx="3931920" cy="274320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202C"/>
                </a:solidFill>
                <a:latin typeface="Outfit"/>
              </a:rPr>
              <a:t>Our Solution — SmartBus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3566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sz="1100">
                <a:solidFill>
                  <a:srgbClr val="4A5568"/>
                </a:solidFill>
                <a:latin typeface="Inter"/>
              </a:rPr>
              <a:t>Live GPS tracking with interactive map &amp; ETA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sz="1100">
                <a:solidFill>
                  <a:srgbClr val="4A5568"/>
                </a:solidFill>
                <a:latin typeface="Inter"/>
              </a:rPr>
              <a:t>Haversine formula for distance calculation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sz="1100">
                <a:solidFill>
                  <a:srgbClr val="4A5568"/>
                </a:solidFill>
                <a:latin typeface="Inter"/>
              </a:rPr>
              <a:t>3 roles: Student, Driver, Admin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sz="1100">
                <a:solidFill>
                  <a:srgbClr val="4A5568"/>
                </a:solidFill>
                <a:latin typeface="Inter"/>
              </a:rPr>
              <a:t>Bus-wise group chat (Firebase Firestore)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sz="1100">
                <a:solidFill>
                  <a:srgbClr val="4A5568"/>
                </a:solidFill>
                <a:latin typeface="Inter"/>
              </a:rPr>
              <a:t>Full admin dashboard with analytics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sz="1100">
                <a:solidFill>
                  <a:srgbClr val="4A5568"/>
                </a:solidFill>
                <a:latin typeface="Inter"/>
              </a:rPr>
              <a:t>Bilingual support (English &amp; বাংলা)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10B981"/>
                </a:solidFill>
                <a:latin typeface="Inter"/>
              </a:rPr>
              <a:t>✓  </a:t>
            </a:r>
            <a:r>
              <a:rPr sz="1100">
                <a:solidFill>
                  <a:srgbClr val="4A5568"/>
                </a:solidFill>
                <a:latin typeface="Inter"/>
              </a:rPr>
              <a:t>Push notifications for trip events</a:t>
            </a:r>
          </a:p>
        </p:txBody>
      </p:sp>
      <p:pic>
        <p:nvPicPr>
          <p:cNvPr id="11" name="Picture 10" descr="Screenshot 2026-08-16 1103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88720"/>
            <a:ext cx="4023360" cy="331014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Landing Page &amp; Role Selection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9319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reenshot 2026-08-16 1104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37490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833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FEATURE HIGHLIGHTS &amp; 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188720"/>
            <a:ext cx="39319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 2026-08-16 1102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80160"/>
            <a:ext cx="37490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4754880" y="576072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833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ROLE SELECTION — STUDENT / DRIVER / ADMIN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Onboarding &amp; Multi-Role Access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Three-step onboarding: Pick your role &gt; Sign up &gt; Start moving. Custom features for each user type.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822960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104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804672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ONBOARDING &amp; ROLE SYSTEM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Student Login &amp; Registration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Secure OTP email verification via Brevo API. JWT bearer tokens. Badges for user roles.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9319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10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374904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594360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STUDENT LOGIN (DARK MODE)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554480"/>
            <a:ext cx="39319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 2026-08-16 1103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645920"/>
            <a:ext cx="374904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4754880" y="594360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60167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STUDENT REGISTRATION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Student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Personalized welcome portal, real-time stats, and sidebar navigation controls.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822960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51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804672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STUDENT PORTAL DASHBOARD WITH REAL-TIME STATS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Real-Time GPS Bus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Live Leaflet map. Position updates every 5s. Haversine distance engine. Shows stops and ETA.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822960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54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804672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LIVE MAP BUS TRACKING WITH ETA &amp; DISTANCE CALCULATIONS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Available Buses &amp; Push Notifications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View status of all active buses. Real-time push notifications for trip events.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5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5943600"/>
            <a:ext cx="548640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AVAILABLE BUSES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228600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 2026-08-16 1051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645920"/>
            <a:ext cx="210312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6400800" y="5943600"/>
            <a:ext cx="228600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60167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REAL-TIME NOTIFICATIONS PANEL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Student: Routes &amp; Schedules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9319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reenshot 2026-08-16 1051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37490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833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ROUTES &amp; STOPS (STUDENT VIEW)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188720"/>
            <a:ext cx="39319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 2026-08-16 1051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80160"/>
            <a:ext cx="37490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4754880" y="576072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833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SCHEDULES &amp; DEPARTURE TIMES (STUDENT VIEW)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Student: Announcements &amp;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9319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reenshot 2026-08-16 105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37490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833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CAMPUS ANNOUNCEMENTS &amp; NOTICES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188720"/>
            <a:ext cx="39319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 2026-08-16 1050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80160"/>
            <a:ext cx="37490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4754880" y="576072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833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STUDENT PROFILE &amp; SECURITY SETTINGS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Bus-Wise Group Chat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Firebase Firestore real-time group chat by bus. Messages with timestamps and read receipts.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9319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10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374904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594360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BUS CHAT - STUDENT 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554480"/>
            <a:ext cx="39319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 2026-08-16 1100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645920"/>
            <a:ext cx="374904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4754880" y="594360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60167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BUS CHAT - DRIVER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Report Management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Categorized reporting workflow (Bug, Driver behavior, Bus issue). Admin reply 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9319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4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374904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594360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SUBMIT REPORT TO ADMIN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554480"/>
            <a:ext cx="39319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 2026-08-16 1050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645920"/>
            <a:ext cx="374904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4754880" y="594360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60167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PREVIOUS REPORTS &amp; ADMIN RESPONSES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Admin: Student Reports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reenshot 2026-08-16 1047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1206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53035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8338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ADMIN REPORTS LIST &amp; STATUS MANAGEMENT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371600"/>
            <a:ext cx="265176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 2026-08-16 1041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463040"/>
            <a:ext cx="246888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035040" y="5760720"/>
            <a:ext cx="265176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58338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REPORT TOPIC SELECTION CATEGORIES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Driver Dashboard &amp; Trip Controls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Bilingual interface. START button, GPS location broadcaster, and STOP/DELAY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9319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48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374904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594360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DRIVER DASHBOARD - READY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554480"/>
            <a:ext cx="39319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creenshot 2026-08-16 1048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645920"/>
            <a:ext cx="374904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4754880" y="594360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60167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DRIVER SETTINGS (BANGLA INTERFACE)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Driver Mobile Experience - Responsive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Mobile-first layouts: Onboarding &gt; Setup Trip &gt; GPS Connecting &gt; Live Trip Active.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155448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hatsApp Image 2026-08-16 at 10.55.42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371600" cy="40233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365760" y="5669280"/>
            <a:ext cx="155448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57424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READY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554480"/>
            <a:ext cx="155448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hatsApp Image 2026-08-16 at 10.55.42 AM (1)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1645920"/>
            <a:ext cx="1371600" cy="40233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2011680" y="5669280"/>
            <a:ext cx="155448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7424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SETUP TRIP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1554480"/>
            <a:ext cx="155448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hatsApp Image 2026-08-16 at 10.55.43 AM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1645920"/>
            <a:ext cx="1371600" cy="40233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6" name="Rectangle 15"/>
          <p:cNvSpPr/>
          <p:nvPr/>
        </p:nvSpPr>
        <p:spPr>
          <a:xfrm>
            <a:off x="3657600" y="5669280"/>
            <a:ext cx="155448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57424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GPS CONNECTING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1554480"/>
            <a:ext cx="155448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hatsApp Image 2026-08-16 at 10.55.43 AM (1)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1645920"/>
            <a:ext cx="1371600" cy="40233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20" name="Rectangle 19"/>
          <p:cNvSpPr/>
          <p:nvPr/>
        </p:nvSpPr>
        <p:spPr>
          <a:xfrm>
            <a:off x="5303520" y="5669280"/>
            <a:ext cx="155448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0" y="57424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ACTIVE (EN)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1554480"/>
            <a:ext cx="155448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hatsApp Image 2026-08-16 at 10.56.11 AM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1645920"/>
            <a:ext cx="1371600" cy="40233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6949440" y="5669280"/>
            <a:ext cx="155448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0" y="574243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ACTIVE (BN)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Admin: User Management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Total User lists, promotion systems, search filters, and block/unblock 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822960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17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804672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ADMIN PANEL - STUDENT, DRIVER, AND CO-ADMIN USERS LIST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Admin: Co-Admin &amp; Driver Approvals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9319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reenshot 2026-08-16 1018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37490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833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CO-ADMIN PERMISSIONS &amp; ACCESS MANAGEMENT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188720"/>
            <a:ext cx="39319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 2026-08-16 1021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80160"/>
            <a:ext cx="37490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4754880" y="576072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833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DRIVER REGISTRATION APPLICATION REVIEW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Admin: Bus &amp; Route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9319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reenshot 2026-08-16 1023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37490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833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BUS FLEET MANAGEMENT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188720"/>
            <a:ext cx="393192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 2026-08-16 103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280160"/>
            <a:ext cx="374904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4754880" y="5760720"/>
            <a:ext cx="393192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83387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ROUTES &amp; STOPPAGES MANAGEMENT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Interactive Map Route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Interactive map picker utilizing Leaflet + OpenStreetMap coordinates sequence builder.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554480"/>
            <a:ext cx="512064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34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645920"/>
            <a:ext cx="493776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2011680" y="5943600"/>
            <a:ext cx="512064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60167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INTERACTIVE LEAFLET MAP - COORDINATE SELECTION &amp; STOP SEQUENCING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Admin: Schedule &amp; Announcements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29184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reenshot 2026-08-16 1036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310896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329184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833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SCHEDULES &amp; ASSIGNMENTS MANAGEMENT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1188720"/>
            <a:ext cx="219456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 2026-08-16 1034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280160"/>
            <a:ext cx="201168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3931920" y="5760720"/>
            <a:ext cx="219456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58338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ADD SCHEDULE MODAL WINDOW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188720"/>
            <a:ext cx="237744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reenshot 2026-08-16 1038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280160"/>
            <a:ext cx="2194560" cy="44805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309360" y="5760720"/>
            <a:ext cx="237744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8338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BROADCAST NOTICES &amp; URGENCIES PANEL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Admin: Analytics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4A5568"/>
                </a:solidFill>
                <a:latin typeface="Inter"/>
              </a:rPr>
              <a:t>Charts powered by Chart.js showing role distributions and driver status analytics.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822960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 2026-08-16 103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8046720" cy="4297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01675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A5568"/>
                </a:solidFill>
                <a:latin typeface="Inter"/>
              </a:rPr>
              <a:t>ADMIN CHARTS - USER ROLES DISTRIBUTION &amp; ACTIVE DRIVER STATUS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Technology Stack &amp;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920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>
                <a:solidFill>
                  <a:srgbClr val="4A5568"/>
                </a:solidFill>
                <a:latin typeface="Inter"/>
              </a:rPr>
              <a:t>HTML, CSS, JavaScript (Vanilla UI)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188720"/>
            <a:ext cx="1920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132588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Backend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6459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>
                <a:solidFill>
                  <a:srgbClr val="4A5568"/>
                </a:solidFill>
                <a:latin typeface="Inter"/>
              </a:rPr>
              <a:t>ASP.NET Core (C# .NET 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188720"/>
            <a:ext cx="1920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32588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Real-Time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6459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>
                <a:solidFill>
                  <a:srgbClr val="4A5568"/>
                </a:solidFill>
                <a:latin typeface="Inter"/>
              </a:rPr>
              <a:t>Firebase Cloud Firestore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59" y="1188720"/>
            <a:ext cx="1920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7999" y="132588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Interactive Maps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7999" y="16459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>
                <a:solidFill>
                  <a:srgbClr val="4A5568"/>
                </a:solidFill>
                <a:latin typeface="Inter"/>
              </a:rPr>
              <a:t>Leaflet.js + OpenStreetMap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560320"/>
            <a:ext cx="1920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9748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Authentication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0175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>
                <a:solidFill>
                  <a:srgbClr val="4A5568"/>
                </a:solidFill>
                <a:latin typeface="Inter"/>
              </a:rPr>
              <a:t>JWT + Email OTP Security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2560320"/>
            <a:ext cx="1920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269748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Notifications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30175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>
                <a:solidFill>
                  <a:srgbClr val="4A5568"/>
                </a:solidFill>
                <a:latin typeface="Inter"/>
              </a:rPr>
              <a:t>Brevo SMTP &amp; Sendinblue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560320"/>
            <a:ext cx="1920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69748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Visualizations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0175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>
                <a:solidFill>
                  <a:srgbClr val="4A5568"/>
                </a:solidFill>
                <a:latin typeface="Inter"/>
              </a:rPr>
              <a:t>Chart.js Analytics Charts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6559" y="2560320"/>
            <a:ext cx="1920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7999" y="269748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Deployment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7999" y="30175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>
                <a:solidFill>
                  <a:srgbClr val="4A5568"/>
                </a:solidFill>
                <a:latin typeface="Inter"/>
              </a:rPr>
              <a:t>Vercel Frontend + Cloud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206240"/>
            <a:ext cx="2377440" cy="10972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Frontend Layer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663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>
                <a:solidFill>
                  <a:srgbClr val="4A5568"/>
                </a:solidFill>
                <a:latin typeface="Inter"/>
              </a:rPr>
              <a:t>HTML, CSS, JS, Leaflet.js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0" y="4206240"/>
            <a:ext cx="2377440" cy="109728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Backend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4663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>
                <a:solidFill>
                  <a:srgbClr val="4A5568"/>
                </a:solidFill>
                <a:latin typeface="Inter"/>
              </a:rPr>
              <a:t>ASP.NET Core, JWT, Haversine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206240"/>
            <a:ext cx="2377440" cy="109728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202C"/>
                </a:solidFill>
                <a:latin typeface="Outfit"/>
              </a:rPr>
              <a:t>Data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>
                <a:solidFill>
                  <a:srgbClr val="4A5568"/>
                </a:solidFill>
                <a:latin typeface="Inter"/>
              </a:rPr>
              <a:t>Firebase Firestore, Brevo SMTP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4A5568"/>
                </a:solidFill>
                <a:latin typeface="Inter"/>
              </a:rPr>
              <a:t>FRONTEND  ↔  REST API + WEBSOCKET  ↔  BACKEND API  ↔  DATA/SERVICES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A202C"/>
                </a:solidFill>
                <a:latin typeface="Outfit"/>
              </a:rPr>
              <a:t>What Makes SmartBus Different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8229600" cy="3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365760"/>
            <a:ext cx="7315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>
                <a:solidFill>
                  <a:srgbClr val="4A5568"/>
                </a:solidFill>
                <a:latin typeface="Inter"/>
              </a:rPr>
              <a:t>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4114800" cy="146304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A202C"/>
                </a:solidFill>
                <a:latin typeface="Outfit"/>
              </a:rPr>
              <a:t>Haversine Formula 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Accurate distance &amp; arrival using real GPS lat/lng coordinates.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188720"/>
            <a:ext cx="4114800" cy="146304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258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A202C"/>
                </a:solidFill>
                <a:latin typeface="Outfit"/>
              </a:rPr>
              <a:t>Bus-Wise Group 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78308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Firebase Firestore real-time group chat grouped by active bus.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26080"/>
            <a:ext cx="4114800" cy="146304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A202C"/>
                </a:solidFill>
                <a:latin typeface="Outfit"/>
              </a:rPr>
              <a:t>Bilingual (EN/Bangla)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2044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Full interface localization for student and driver accessibility.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2926080"/>
            <a:ext cx="4114800" cy="146304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306324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A202C"/>
                </a:solidFill>
                <a:latin typeface="Outfit"/>
              </a:rPr>
              <a:t>Push Notifications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52044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Instant real-time notifications for trip start, delay and completion.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663440"/>
            <a:ext cx="4114800" cy="146304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006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A202C"/>
                </a:solidFill>
                <a:latin typeface="Outfit"/>
              </a:rPr>
              <a:t>Admin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Interactive Chart.js visual dashboard showing data-driven metrics.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4663440"/>
            <a:ext cx="4114800" cy="146304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480060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A202C"/>
                </a:solidFill>
                <a:latin typeface="Outfit"/>
              </a:rPr>
              <a:t>Report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25780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4A5568"/>
                </a:solidFill>
                <a:latin typeface="Inter"/>
              </a:rPr>
              <a:t>Categorized reports with direct admin response and status tracking pipeline.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Outfit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0175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C8DCFF"/>
                </a:solidFill>
                <a:latin typeface="Inter"/>
              </a:rPr>
              <a:t>Smart Campus Bus Tracking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>Software Development Project 400</a:t>
            </a:r>
          </a:p>
          <a:p>
            <a:pPr algn="ctr">
              <a:spcAft>
                <a:spcPts val="4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>Intake 51 | Section 3</a:t>
            </a:r>
          </a:p>
          <a:p>
            <a:pPr algn="ctr">
              <a:spcAft>
                <a:spcPts val="4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>Supervised by Humayra Ahmed, Assistant Professor</a:t>
            </a:r>
          </a:p>
          <a:p>
            <a:pPr algn="ctr">
              <a:spcAft>
                <a:spcPts val="4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/>
            </a:r>
          </a:p>
          <a:p>
            <a:pPr algn="ctr">
              <a:spcAft>
                <a:spcPts val="4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>Md Arif Khan  |  Karnia Binte Rafique  |  Suraiya Karim</a:t>
            </a:r>
          </a:p>
          <a:p>
            <a:pPr algn="ctr">
              <a:spcAft>
                <a:spcPts val="4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>Prosenjit Biswas  |  Proshanta Saha</a:t>
            </a:r>
          </a:p>
          <a:p>
            <a:pPr algn="ctr">
              <a:spcAft>
                <a:spcPts val="4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/>
            </a:r>
          </a:p>
          <a:p>
            <a:pPr algn="ctr">
              <a:spcAft>
                <a:spcPts val="400"/>
              </a:spcAft>
            </a:pPr>
            <a:r>
              <a:rPr sz="1300">
                <a:solidFill>
                  <a:srgbClr val="B4C8E6"/>
                </a:solidFill>
                <a:latin typeface="Inter"/>
              </a:rPr>
              <a:t>Questions &amp; Feedback Welcome!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