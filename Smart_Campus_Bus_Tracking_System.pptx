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52190" y="10058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8DCFF"/>
                </a:solidFill>
                <a:latin typeface="Inter"/>
              </a:rPr>
              <a:t>SOFTWARE DEVELOPMENT PROJECT 400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554480"/>
            <a:ext cx="94484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Outfit"/>
              </a:rPr>
              <a:t>Smart Campus Bus
Tracking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DCFF"/>
                </a:solidFill>
                <a:latin typeface="Inter"/>
              </a:rPr>
              <a:t>A real-time GPS-based bus tracking &amp; campus transit management web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48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b="1" sz="1400">
                <a:solidFill>
                  <a:srgbClr val="FFFFFF"/>
                </a:solidFill>
              </a:rPr>
              <a:t>Supervisor: </a:t>
            </a:r>
            <a:r>
              <a:rPr sz="1400">
                <a:solidFill>
                  <a:srgbClr val="DCEBFF"/>
                </a:solidFill>
              </a:rPr>
              <a:t>Humayra Ahmed, Assistant Professor</a:t>
            </a:r>
          </a:p>
          <a:p>
            <a:pPr algn="ctr">
              <a:spcAft>
                <a:spcPts val="800"/>
              </a:spcAft>
            </a:pPr>
            <a:r>
              <a:rPr b="1" sz="1300">
                <a:solidFill>
                  <a:srgbClr val="BED7FA"/>
                </a:solidFill>
              </a:rPr>
              <a:t>Intake 51 | Section 3</a:t>
            </a:r>
          </a:p>
          <a:p>
            <a:pPr algn="ctr"/>
            <a:r>
              <a:rPr sz="1300">
                <a:solidFill>
                  <a:srgbClr val="DCEBFF"/>
                </a:solidFill>
              </a:rPr>
              <a:t>Md Arif Khan  •  Karnia Binte Rafique  •  Suraiya Karim  •  Prosenjit Biswas  •  Proshanta Saha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Problem Statement &amp; 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Addressing campus transit inefficiencies through an automated, real-time tracking and communication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92400E"/>
                </a:solidFill>
              </a:rPr>
              <a:t>❌ Existing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F59E0B"/>
                </a:solidFill>
                <a:latin typeface="Inter"/>
              </a:rPr>
              <a:t>1.  </a:t>
            </a:r>
            <a:r>
              <a:rPr b="1" sz="1100">
                <a:solidFill>
                  <a:srgbClr val="1A202C"/>
                </a:solidFill>
                <a:latin typeface="Inter"/>
              </a:rPr>
              <a:t>Blind Waiting: </a:t>
            </a:r>
            <a:r>
              <a:rPr sz="1100">
                <a:solidFill>
                  <a:srgbClr val="4A5568"/>
                </a:solidFill>
                <a:latin typeface="Inter"/>
              </a:rPr>
              <a:t>No live bus location or arrival ETA available at campus stops.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59E0B"/>
                </a:solidFill>
                <a:latin typeface="Inter"/>
              </a:rPr>
              <a:t>2.  </a:t>
            </a:r>
            <a:r>
              <a:rPr b="1" sz="1100">
                <a:solidFill>
                  <a:srgbClr val="1A202C"/>
                </a:solidFill>
                <a:latin typeface="Inter"/>
              </a:rPr>
              <a:t>Unreliable Schedules: </a:t>
            </a:r>
            <a:r>
              <a:rPr sz="1100">
                <a:solidFill>
                  <a:srgbClr val="4A5568"/>
                </a:solidFill>
                <a:latin typeface="Inter"/>
              </a:rPr>
              <a:t>Paper notices with unexpected delays cause missed classes.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59E0B"/>
                </a:solidFill>
                <a:latin typeface="Inter"/>
              </a:rPr>
              <a:t>3.  </a:t>
            </a:r>
            <a:r>
              <a:rPr b="1" sz="1100">
                <a:solidFill>
                  <a:srgbClr val="1A202C"/>
                </a:solidFill>
                <a:latin typeface="Inter"/>
              </a:rPr>
              <a:t>Communication Gap: </a:t>
            </a:r>
            <a:r>
              <a:rPr sz="1100">
                <a:solidFill>
                  <a:srgbClr val="4A5568"/>
                </a:solidFill>
                <a:latin typeface="Inter"/>
              </a:rPr>
              <a:t>No passenger-driver coordination channel during breakdown events.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59E0B"/>
                </a:solidFill>
                <a:latin typeface="Inter"/>
              </a:rPr>
              <a:t>4.  </a:t>
            </a:r>
            <a:r>
              <a:rPr b="1" sz="1100">
                <a:solidFill>
                  <a:srgbClr val="1A202C"/>
                </a:solidFill>
                <a:latin typeface="Inter"/>
              </a:rPr>
              <a:t>Administrative Blindness: </a:t>
            </a:r>
            <a:r>
              <a:rPr sz="1100">
                <a:solidFill>
                  <a:srgbClr val="4A5568"/>
                </a:solidFill>
                <a:latin typeface="Inter"/>
              </a:rPr>
              <a:t>Zero real-time fleet overview, speed metrics, or instant safety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259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65F46"/>
                </a:solidFill>
              </a:rPr>
              <a:t>🎯 Target Objectives &amp;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59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Real-Time GPS Tracking: </a:t>
            </a:r>
            <a:r>
              <a:rPr sz="1100">
                <a:solidFill>
                  <a:srgbClr val="4A5568"/>
                </a:solidFill>
                <a:latin typeface="Inter"/>
              </a:rPr>
              <a:t>High-precision location updates broadcasted every 5s on Leaflet OSM.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Haversine ETA Engine: </a:t>
            </a:r>
            <a:r>
              <a:rPr sz="1100">
                <a:solidFill>
                  <a:srgbClr val="4A5568"/>
                </a:solidFill>
                <a:latin typeface="Inter"/>
              </a:rPr>
              <a:t>Accurate stop-wise distance and arrival time calculations in real-time.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Live Community Chat: </a:t>
            </a:r>
            <a:r>
              <a:rPr sz="1100">
                <a:solidFill>
                  <a:srgbClr val="4A5568"/>
                </a:solidFill>
                <a:latin typeface="Inter"/>
              </a:rPr>
              <a:t>Bus-specific instant communication grouped by active transit trips.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Fleet Management Portal: </a:t>
            </a:r>
            <a:r>
              <a:rPr sz="1100">
                <a:solidFill>
                  <a:srgbClr val="4A5568"/>
                </a:solidFill>
                <a:latin typeface="Inter"/>
              </a:rPr>
              <a:t>Interactive route coordinator, user role controls, and visual analytics.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System Architecture &amp; 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 scalable, decoupled client-server architecture powered by ASP.NET Core and Firebase real-time sync.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6032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202C"/>
                </a:solidFill>
              </a:rPr>
              <a:t>🖥️ HTML5 / CSS3 / JS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A5568"/>
                </a:solidFill>
              </a:rPr>
              <a:t>Vanilla UI, Responsive &amp; Dynamic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175" y="1554480"/>
            <a:ext cx="256032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6335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202C"/>
                </a:solidFill>
              </a:rPr>
              <a:t>🟣 ASP.NET Core 8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A5568"/>
                </a:solidFill>
              </a:rPr>
              <a:t>C# REST Web API &amp; JWT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6830" y="1554480"/>
            <a:ext cx="256032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3990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202C"/>
                </a:solidFill>
              </a:rPr>
              <a:t>🔥 Firebase Firestore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A5568"/>
                </a:solidFill>
              </a:rPr>
              <a:t>NoSQL Real-Time Sync SDK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4485" y="1554480"/>
            <a:ext cx="2560320" cy="114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1645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202C"/>
                </a:solidFill>
              </a:rPr>
              <a:t>🗺️ Leaflet.js + OSM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A5568"/>
                </a:solidFill>
              </a:rPr>
              <a:t>Interactive GPS Mapping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28655" cy="3429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108960"/>
            <a:ext cx="4937760" cy="1097280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20040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2563EB"/>
                </a:solidFill>
              </a:rPr>
              <a:t>Client Layer (Frontend UI)</a:t>
            </a:r>
          </a:p>
          <a:p>
            <a:r>
              <a:rPr sz="1000">
                <a:solidFill>
                  <a:srgbClr val="4A5568"/>
                </a:solidFill>
              </a:rPr>
              <a:t>Vanilla JS, Leaflet.js Mapping, Chart.js, HTML5 Geolocation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095" y="3108960"/>
            <a:ext cx="4937760" cy="1097280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5255" y="320040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92400E"/>
                </a:solidFill>
              </a:rPr>
              <a:t>Real-Time Layer (Firebase Web SDK)</a:t>
            </a:r>
          </a:p>
          <a:p>
            <a:r>
              <a:rPr sz="1000">
                <a:solidFill>
                  <a:srgbClr val="4A5568"/>
                </a:solidFill>
              </a:rPr>
              <a:t>Firestore Snapshot Listeners for real-time GPS location pan &amp; live bus group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</a:rPr>
              <a:t>⬇️ REST API Queries &amp; Real-Time Data Synchronization ⬇️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754880"/>
            <a:ext cx="4937760" cy="128016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46320"/>
            <a:ext cx="4663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065F46"/>
                </a:solidFill>
              </a:rPr>
              <a:t>Backend API Layer (ASP.NET Core 8 C#)</a:t>
            </a:r>
          </a:p>
          <a:p>
            <a:r>
              <a:rPr sz="1000">
                <a:solidFill>
                  <a:srgbClr val="4A5568"/>
                </a:solidFill>
              </a:rPr>
              <a:t>REST Controllers, JWT Bearer Auth tokens, Role Authorization, Haversine Distance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8095" y="4754880"/>
            <a:ext cx="4937760" cy="1280160"/>
          </a:xfrm>
          <a:prstGeom prst="roundRect">
            <a:avLst>
              <a:gd name="adj" fmla="val 3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5255" y="4846320"/>
            <a:ext cx="4663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1A202C"/>
                </a:solidFill>
              </a:rPr>
              <a:t>Data &amp; Third-Party Services</a:t>
            </a:r>
          </a:p>
          <a:p>
            <a:r>
              <a:rPr sz="1000">
                <a:solidFill>
                  <a:srgbClr val="4A5568"/>
                </a:solidFill>
              </a:rPr>
              <a:t>Cloud Firestore NoSQL database + Brevo SMTP API for 6-digit OTP verification emails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Development Methodology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Iterative Agile development process emphasizing high reliability, real-time synchronization, and modularity.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02C"/>
                </a:solidFill>
              </a:rPr>
              <a:t>📋 Agile Phases (1 —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1: Architecture &amp; NoSQL Schema: </a:t>
            </a:r>
            <a:r>
              <a:rPr sz="1100">
                <a:solidFill>
                  <a:srgbClr val="4A5568"/>
                </a:solidFill>
                <a:latin typeface="Inter"/>
              </a:rPr>
              <a:t>Designed normalized User, Bus, Route, and Notice models in Firestore with indexed queries.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2: Responsive Prototyping: </a:t>
            </a:r>
            <a:r>
              <a:rPr sz="1100">
                <a:solidFill>
                  <a:srgbClr val="4A5568"/>
                </a:solidFill>
                <a:latin typeface="Inter"/>
              </a:rPr>
              <a:t>Built mobile-first interfaces with full multi-theme support (Classic Navy, Terracotta, Oceanic).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3: Secure REST API: </a:t>
            </a:r>
            <a:r>
              <a:rPr sz="1100">
                <a:solidFill>
                  <a:srgbClr val="4A5568"/>
                </a:solidFill>
                <a:latin typeface="Inter"/>
              </a:rPr>
              <a:t>Implemented ASP.NET Core endpoints with Brevo SMTP 6-digit OTP verification and JWT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259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65F46"/>
                </a:solidFill>
              </a:rPr>
              <a:t>🚀 Agile Phases (4 — 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59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4: GPS Tracking &amp; ETA Calculation: </a:t>
            </a:r>
            <a:r>
              <a:rPr sz="1100">
                <a:solidFill>
                  <a:srgbClr val="4A5568"/>
                </a:solidFill>
                <a:latin typeface="Inter"/>
              </a:rPr>
              <a:t>Integrated HTML5 Geolocation API with Leaflet pan and Haversine distance engine.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5: Real-time Messaging &amp; Broadcast: </a:t>
            </a:r>
            <a:r>
              <a:rPr sz="1100">
                <a:solidFill>
                  <a:srgbClr val="4A5568"/>
                </a:solidFill>
                <a:latin typeface="Inter"/>
              </a:rPr>
              <a:t>Built bus-wise community group chats and urgent notice board.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Phase 6: Verification &amp; Testing: </a:t>
            </a:r>
            <a:r>
              <a:rPr sz="1100">
                <a:solidFill>
                  <a:srgbClr val="4A5568"/>
                </a:solidFill>
                <a:latin typeface="Inter"/>
              </a:rPr>
              <a:t>Executed xUnit backend unit tests and Playwright E2E integration test suites.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Walkthrough: Onboarding &amp; Multi-Role Authentication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Role-based access system (Student, Driver, Admin) with secure registration, Brevo SMTP OTP verification, and JWT session handling.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10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3152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ROLE SELECTION — STUDENT / DRIVER / ADMIN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27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103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42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27827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27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SECURE MULTI-ROLE LOGIN SCREEN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Walkthrough: Real-Time GPS Tracking &amp; Dynamic 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Live Leaflet map pins bus coordinates updated every 5s. Haversine engine calculates exact stop distances and arrival estimates.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54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10582351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31520" y="5943600"/>
            <a:ext cx="107286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98464"/>
            <a:ext cx="107286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LIVE MAP TRACKING: REAL-TIME LOCATION &amp; STOP ETA PANEL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Walkthrough: Driver Console &amp; Community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Driver dashboard with single-tap trip start, delay broadcast, and bilingual UI, paired with real-time bus-wise group chat.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hatsApp Image 2026-08-16 at 10.55.43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3152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DRIVER TRIP CONTROLLER &amp; DELAY ALERTS (MOBILE)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27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100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42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27827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27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BUS-WISE REAL-TIME PASSENGER COMMUNITY CHAT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Walkthrough: Map Route Builder &amp; Fleet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Admin map coordinator enables clicking and dragging stop coordinates directly on OSM, alongside complete bus fleet CRUD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34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3152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INTERACTIVE MAP ROUTE COORDINATOR &amp; STOP EDITOR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27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02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42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27827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27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BUS FLEET ADD / MODIFY / DELETE CRUD CONSOLE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Walkthrough: Admin Analytics &amp; Safety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Admins monitor user statistics with Chart.js, broadcast urgent notices, manage user roles, and resolve student safety reports.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3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3152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CHART.JS VISUAL ANALYTICS 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270" y="1554480"/>
            <a:ext cx="5180990" cy="4773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04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422" y="1627632"/>
            <a:ext cx="5034686" cy="427939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278270" y="5943600"/>
            <a:ext cx="518099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270" y="5998464"/>
            <a:ext cx="51809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STUDENT SAFETY &amp; BUG REPORTING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Key Differentiators &amp; Measurable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SmartBus combines mathematical precision with seamless real-time interaction to deliver a superior campus commute.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65F46"/>
                </a:solidFill>
              </a:rPr>
              <a:t>✨ Key Differentiators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🧮  </a:t>
            </a:r>
            <a:r>
              <a:rPr b="1" sz="1100">
                <a:solidFill>
                  <a:srgbClr val="1A202C"/>
                </a:solidFill>
                <a:latin typeface="Inter"/>
              </a:rPr>
              <a:t>Haversine Formula ETA: </a:t>
            </a:r>
            <a:r>
              <a:rPr sz="1100">
                <a:solidFill>
                  <a:srgbClr val="4A5568"/>
                </a:solidFill>
                <a:latin typeface="Inter"/>
              </a:rPr>
              <a:t>Mathematical calculation based on geographical GPS coordinates.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💬  </a:t>
            </a:r>
            <a:r>
              <a:rPr b="1" sz="1100">
                <a:solidFill>
                  <a:srgbClr val="1A202C"/>
                </a:solidFill>
                <a:latin typeface="Inter"/>
              </a:rPr>
              <a:t>Bus-Wise Chatrooms: </a:t>
            </a:r>
            <a:r>
              <a:rPr sz="1100">
                <a:solidFill>
                  <a:srgbClr val="4A5568"/>
                </a:solidFill>
                <a:latin typeface="Inter"/>
              </a:rPr>
              <a:t>Real-time Firestore communication per active bus.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🌐  </a:t>
            </a:r>
            <a:r>
              <a:rPr b="1" sz="1100">
                <a:solidFill>
                  <a:srgbClr val="1A202C"/>
                </a:solidFill>
                <a:latin typeface="Inter"/>
              </a:rPr>
              <a:t>Bilingual Driver UI: </a:t>
            </a:r>
            <a:r>
              <a:rPr sz="1100">
                <a:solidFill>
                  <a:srgbClr val="4A5568"/>
                </a:solidFill>
                <a:latin typeface="Inter"/>
              </a:rPr>
              <a:t>Full English &amp; বাংলা localization for seamless driver usability.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🗺️  </a:t>
            </a:r>
            <a:r>
              <a:rPr b="1" sz="1100">
                <a:solidFill>
                  <a:srgbClr val="1A202C"/>
                </a:solidFill>
                <a:latin typeface="Inter"/>
              </a:rPr>
              <a:t>Visual Route Builder: </a:t>
            </a:r>
            <a:r>
              <a:rPr sz="1100">
                <a:solidFill>
                  <a:srgbClr val="4A5568"/>
                </a:solidFill>
                <a:latin typeface="Inter"/>
              </a:rPr>
              <a:t>Click-to-place stops directly on Leaflet OpenStreetMap.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259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02C"/>
                </a:solidFill>
              </a:rPr>
              <a:t>📈 Measurable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59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⚡  </a:t>
            </a:r>
            <a:r>
              <a:rPr b="1" sz="1100">
                <a:solidFill>
                  <a:srgbClr val="1A202C"/>
                </a:solidFill>
                <a:latin typeface="Inter"/>
              </a:rPr>
              <a:t>Zero Blind Waiting: </a:t>
            </a:r>
            <a:r>
              <a:rPr sz="1100">
                <a:solidFill>
                  <a:srgbClr val="4A5568"/>
                </a:solidFill>
                <a:latin typeface="Inter"/>
              </a:rPr>
              <a:t>Students track bus locations before heading to stops, eliminating idle wait.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📢  </a:t>
            </a:r>
            <a:r>
              <a:rPr b="1" sz="1100">
                <a:solidFill>
                  <a:srgbClr val="1A202C"/>
                </a:solidFill>
                <a:latin typeface="Inter"/>
              </a:rPr>
              <a:t>Instant Delay Alerts: </a:t>
            </a:r>
            <a:r>
              <a:rPr sz="1100">
                <a:solidFill>
                  <a:srgbClr val="4A5568"/>
                </a:solidFill>
                <a:latin typeface="Inter"/>
              </a:rPr>
              <a:t>Push notices reduce campus confusion during unexpected traffic.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🛡️  </a:t>
            </a:r>
            <a:r>
              <a:rPr b="1" sz="1100">
                <a:solidFill>
                  <a:srgbClr val="1A202C"/>
                </a:solidFill>
                <a:latin typeface="Inter"/>
              </a:rPr>
              <a:t>Enhanced Student Safety: </a:t>
            </a:r>
            <a:r>
              <a:rPr sz="1100">
                <a:solidFill>
                  <a:srgbClr val="4A5568"/>
                </a:solidFill>
                <a:latin typeface="Inter"/>
              </a:rPr>
              <a:t>Direct reporting pipeline with immediate admin response.</a:t>
            </a:r>
          </a:p>
          <a:p>
            <a:pPr>
              <a:spcAft>
                <a:spcPts val="1000"/>
              </a:spcAft>
            </a:pPr>
            <a:r>
              <a:rPr sz="1100">
                <a:latin typeface="Inter"/>
              </a:rPr>
              <a:t>📊  </a:t>
            </a:r>
            <a:r>
              <a:rPr b="1" sz="1100">
                <a:solidFill>
                  <a:srgbClr val="1A202C"/>
                </a:solidFill>
                <a:latin typeface="Inter"/>
              </a:rPr>
              <a:t>Data-Driven Transit: </a:t>
            </a:r>
            <a:r>
              <a:rPr sz="1100">
                <a:solidFill>
                  <a:srgbClr val="4A5568"/>
                </a:solidFill>
                <a:latin typeface="Inter"/>
              </a:rPr>
              <a:t>Analytics help optimize bus schedules and fleet allocation.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Business Model &amp; Monetization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 scalable B2B SaaS and zero-hardware transit management model designed for universities and fleet operators.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42032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202C"/>
                </a:solidFill>
              </a:rPr>
              <a:t>🎯 Target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2176272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Private &amp; Public Varsities: </a:t>
            </a:r>
            <a:r>
              <a:rPr sz="1000">
                <a:solidFill>
                  <a:srgbClr val="4A5568"/>
                </a:solidFill>
                <a:latin typeface="Inter"/>
              </a:rPr>
              <a:t>BUBT, NSU, BRACU, UIU, DU campus networks.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Schools &amp; Colleges: </a:t>
            </a:r>
            <a:r>
              <a:rPr sz="1000">
                <a:solidFill>
                  <a:srgbClr val="4A5568"/>
                </a:solidFill>
                <a:latin typeface="Inter"/>
              </a:rPr>
              <a:t>Institutional transport &amp; student safety tracking.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Corporate Shuttles: </a:t>
            </a:r>
            <a:r>
              <a:rPr sz="1000">
                <a:solidFill>
                  <a:srgbClr val="4A5568"/>
                </a:solidFill>
                <a:latin typeface="Inter"/>
              </a:rPr>
              <a:t>Employee daily office commute &amp; shift transport fleets.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542032" cy="47548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73736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65F46"/>
                </a:solidFill>
              </a:rPr>
              <a:t>💎 Value Proposition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240280"/>
            <a:ext cx="2176272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Zero Hardware Cost: </a:t>
            </a:r>
            <a:r>
              <a:rPr sz="1000">
                <a:solidFill>
                  <a:srgbClr val="4A5568"/>
                </a:solidFill>
                <a:latin typeface="Inter"/>
              </a:rPr>
              <a:t>Operates entirely via driver smartphones with no GPS OBD box needed.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Zero Blind Waiting: </a:t>
            </a:r>
            <a:r>
              <a:rPr sz="1000">
                <a:solidFill>
                  <a:srgbClr val="4A5568"/>
                </a:solidFill>
                <a:latin typeface="Inter"/>
              </a:rPr>
              <a:t>Real-time location, ETA, and delay notices eliminate idle wait time.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Fuel &amp; Fleet Savings: </a:t>
            </a:r>
            <a:r>
              <a:rPr sz="1000">
                <a:solidFill>
                  <a:srgbClr val="4A5568"/>
                </a:solidFill>
                <a:latin typeface="Inter"/>
              </a:rPr>
              <a:t>Optimized route planning yields 20-30% transit efficiency gain.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554480"/>
            <a:ext cx="2542032" cy="4754880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73736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2400E"/>
                </a:solidFill>
              </a:rPr>
              <a:t>💰 Revenue Streams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240280"/>
            <a:ext cx="2176272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B2B SaaS Subscription: </a:t>
            </a:r>
            <a:r>
              <a:rPr sz="1000">
                <a:solidFill>
                  <a:srgbClr val="4A5568"/>
                </a:solidFill>
                <a:latin typeface="Inter"/>
              </a:rPr>
              <a:t>$15 - $25/bus/month recurring fee for institution fleet management.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White-Label Solution: </a:t>
            </a:r>
            <a:r>
              <a:rPr sz="1000">
                <a:solidFill>
                  <a:srgbClr val="4A5568"/>
                </a:solidFill>
                <a:latin typeface="Inter"/>
              </a:rPr>
              <a:t>Custom branded app portal deployment &amp; institutional setup fees.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Hyperlocal Campus Ads: </a:t>
            </a:r>
            <a:r>
              <a:rPr sz="1000">
                <a:solidFill>
                  <a:srgbClr val="4A5568"/>
                </a:solidFill>
                <a:latin typeface="Inter"/>
              </a:rPr>
              <a:t>Targeted student deals for local food courts, bookshops &amp; stationeries.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554480"/>
            <a:ext cx="2542032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73736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202C"/>
                </a:solidFill>
              </a:rPr>
              <a:t>🚀 Scalability &amp;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240280"/>
            <a:ext cx="2176272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Rapid Onboarding: </a:t>
            </a:r>
            <a:r>
              <a:rPr sz="1000">
                <a:solidFill>
                  <a:srgbClr val="4A5568"/>
                </a:solidFill>
                <a:latin typeface="Inter"/>
              </a:rPr>
              <a:t>New buses and routes can be onboarded in under 10 minutes.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Zero Map Licensing Fees: </a:t>
            </a:r>
            <a:r>
              <a:rPr sz="1000">
                <a:solidFill>
                  <a:srgbClr val="4A5568"/>
                </a:solidFill>
                <a:latin typeface="Inter"/>
              </a:rPr>
              <a:t>Built on open Leaflet + OSM, avoiding expensive Google Maps API costs.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10B981"/>
                </a:solidFill>
                <a:latin typeface="Inter"/>
              </a:rPr>
              <a:t>✓  </a:t>
            </a:r>
            <a:r>
              <a:rPr b="1" sz="1000">
                <a:solidFill>
                  <a:srgbClr val="1A202C"/>
                </a:solidFill>
                <a:latin typeface="Inter"/>
              </a:rPr>
              <a:t>Data-Driven Expansion: </a:t>
            </a:r>
            <a:r>
              <a:rPr sz="1000">
                <a:solidFill>
                  <a:srgbClr val="4A5568"/>
                </a:solidFill>
                <a:latin typeface="Inter"/>
              </a:rPr>
              <a:t>Rich transit demand logs enable schedule &amp; capacity optimization.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A202C"/>
                </a:solidFill>
                <a:latin typeface="Outfit"/>
              </a:rPr>
              <a:t>Conclusion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96112"/>
            <a:ext cx="10728655" cy="3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347472"/>
            <a:ext cx="1127455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600" b="1">
                <a:solidFill>
                  <a:srgbClr val="4A5568"/>
                </a:solidFill>
                <a:latin typeface="Inte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 complete, tested, and reliable university transit solution with clear paths for future expansion.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02C"/>
                </a:solidFill>
              </a:rPr>
              <a:t>🏁 Project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Successfully developed and integrated a real-time GPS transit platform for university campuses.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Integrated ASP.NET Core REST API, Firestore real-time sync, and Brevo OTP authentication.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Validated through comprehensive xUnit backend testing and Playwright E2E browser automation.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1554480"/>
            <a:ext cx="5180990" cy="475488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2590" y="1737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65F46"/>
                </a:solidFill>
              </a:rPr>
              <a:t>🔮 Future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590" y="224028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IoT Passenger Crowding Sensor: </a:t>
            </a:r>
            <a:r>
              <a:rPr sz="1100">
                <a:solidFill>
                  <a:srgbClr val="4A5568"/>
                </a:solidFill>
                <a:latin typeface="Inter"/>
              </a:rPr>
              <a:t>Real-time bus seat occupancy tracking via smart sensors.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Automated Speed Alerts: </a:t>
            </a:r>
            <a:r>
              <a:rPr sz="1100">
                <a:solidFill>
                  <a:srgbClr val="4A5568"/>
                </a:solidFill>
                <a:latin typeface="Inter"/>
              </a:rPr>
              <a:t>Instant notifications for bus overspeeding events to ensure safety.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Offline SMS Fallback: </a:t>
            </a:r>
            <a:r>
              <a:rPr sz="1100">
                <a:solidFill>
                  <a:srgbClr val="4A5568"/>
                </a:solidFill>
                <a:latin typeface="Inter"/>
              </a:rPr>
              <a:t>Check bus timings and alerts via standard offline SMS queries.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b="1" sz="1100">
                <a:solidFill>
                  <a:srgbClr val="1A202C"/>
                </a:solidFill>
                <a:latin typeface="Inter"/>
              </a:rPr>
              <a:t>Digital Ticketing Engine: </a:t>
            </a:r>
            <a:r>
              <a:rPr sz="1100">
                <a:solidFill>
                  <a:srgbClr val="4A5568"/>
                </a:solidFill>
                <a:latin typeface="Inter"/>
              </a:rPr>
              <a:t>Integrated payment gateway for special inter-campus routes.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280160"/>
            <a:ext cx="94484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Outfit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84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8DCFF"/>
                </a:solidFill>
                <a:latin typeface="Inter"/>
              </a:rPr>
              <a:t>Smart Campus Bus Tracking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484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Software Development Project 400</a:t>
            </a:r>
          </a:p>
          <a:p>
            <a:pPr algn="ctr"/>
            <a:r>
              <a:rPr sz="1300">
                <a:solidFill>
                  <a:srgbClr val="BED7FA"/>
                </a:solidFill>
              </a:rPr>
              <a:t>Intake 51 | Section 3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C8DCFF"/>
                </a:solidFill>
              </a:rPr>
              <a:t>Supervised by </a:t>
            </a:r>
            <a:r>
              <a:rPr b="1" sz="1400">
                <a:solidFill>
                  <a:srgbClr val="FFFFFF"/>
                </a:solidFill>
              </a:rPr>
              <a:t>Humayra Ahmed</a:t>
            </a:r>
            <a:r>
              <a:rPr sz="1400">
                <a:solidFill>
                  <a:srgbClr val="C8DCFF"/>
                </a:solidFill>
              </a:rPr>
              <a:t>, Assistant Professor</a:t>
            </a:r>
          </a:p>
          <a:p>
            <a:pPr algn="ctr">
              <a:spcAft>
                <a:spcPts val="1400"/>
              </a:spcAft>
            </a:pPr>
            <a:r>
              <a:rPr sz="1300">
                <a:solidFill>
                  <a:srgbClr val="DCEBFF"/>
                </a:solidFill>
              </a:rPr>
              <a:t>Md Arif Khan  •  Karnia Binte Rafique  •  Suraiya Karim  •  Prosenjit Biswas  •  Proshanta Saha</a:t>
            </a:r>
          </a:p>
          <a:p>
            <a:pPr algn="ctr"/>
            <a:r>
              <a:rPr sz="1700" b="1">
                <a:solidFill>
                  <a:srgbClr val="93C5FD"/>
                </a:solidFill>
              </a:rPr>
              <a:t>Questions &amp; Feedback Welcome 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