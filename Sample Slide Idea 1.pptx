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Alexandria Medium"/>
      <p:regular r:id="rId16"/>
      <p:bold r:id="rId17"/>
    </p:embeddedFont>
    <p:embeddedFont>
      <p:font typeface="Poppins"/>
      <p:bold r:id="rId18"/>
      <p:boldItalic r:id="rId19"/>
    </p:embeddedFont>
    <p:embeddedFont>
      <p:font typeface="Alexandria"/>
      <p:regular r:id="rId20"/>
      <p:bold r:id="rId21"/>
    </p:embeddedFont>
    <p:embeddedFont>
      <p:font typeface="DM Sans"/>
      <p:bold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NCjzEgjh07Em7uIc0GuNHSVl0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xandria-regular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Alexandria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lexandriaMedium-bold.fntdata"/><Relationship Id="rId16" Type="http://schemas.openxmlformats.org/officeDocument/2006/relationships/font" Target="fonts/Alexandria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Italic.fntdata"/><Relationship Id="rId6" Type="http://schemas.openxmlformats.org/officeDocument/2006/relationships/slide" Target="slides/slide1.xml"/><Relationship Id="rId18" Type="http://schemas.openxmlformats.org/officeDocument/2006/relationships/font" Target="fonts/Poppi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.jpg"/><Relationship Id="rId5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1.jp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4.png"/><Relationship Id="rId11" Type="http://schemas.openxmlformats.org/officeDocument/2006/relationships/image" Target="../media/image24.png"/><Relationship Id="rId10" Type="http://schemas.openxmlformats.org/officeDocument/2006/relationships/image" Target="../media/image18.png"/><Relationship Id="rId12" Type="http://schemas.openxmlformats.org/officeDocument/2006/relationships/image" Target="../media/image27.png"/><Relationship Id="rId9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6.png"/><Relationship Id="rId7" Type="http://schemas.openxmlformats.org/officeDocument/2006/relationships/image" Target="../media/image20.png"/><Relationship Id="rId8" Type="http://schemas.openxmlformats.org/officeDocument/2006/relationships/image" Target="../media/image2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Relationship Id="rId11" Type="http://schemas.openxmlformats.org/officeDocument/2006/relationships/image" Target="../media/image1.jpg"/><Relationship Id="rId10" Type="http://schemas.openxmlformats.org/officeDocument/2006/relationships/image" Target="../media/image31.png"/><Relationship Id="rId9" Type="http://schemas.openxmlformats.org/officeDocument/2006/relationships/image" Target="../media/image32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978476" y="5200650"/>
            <a:ext cx="8312001" cy="4032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6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PRESENTED BY:</a:t>
            </a:r>
            <a:endParaRPr/>
          </a:p>
          <a:p>
            <a:pPr indent="0" lvl="0" marL="0" marR="0" rtl="0" algn="l">
              <a:lnSpc>
                <a:spcPct val="108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969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 Member 1,  Student ID</a:t>
            </a:r>
            <a:endParaRPr/>
          </a:p>
          <a:p>
            <a:pPr indent="0" lvl="0" marL="0" marR="0" rtl="0" algn="l">
              <a:lnSpc>
                <a:spcPct val="10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 Member 2,  Student ID</a:t>
            </a:r>
            <a:endParaRPr/>
          </a:p>
          <a:p>
            <a:pPr indent="0" lvl="0" marL="0" marR="0" rtl="0" algn="l">
              <a:lnSpc>
                <a:spcPct val="10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 Member 3,  Student ID</a:t>
            </a:r>
            <a:endParaRPr/>
          </a:p>
          <a:p>
            <a:pPr indent="0" lvl="0" marL="0" marR="0" rtl="0" algn="l">
              <a:lnSpc>
                <a:spcPct val="10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 Member 4,  Student ID</a:t>
            </a:r>
            <a:endParaRPr/>
          </a:p>
          <a:p>
            <a:pPr indent="0" lvl="0" marL="0" marR="0" rtl="0" algn="l">
              <a:lnSpc>
                <a:spcPct val="10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6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Team Member 5,  Student ID</a:t>
            </a:r>
            <a:endParaRPr/>
          </a:p>
          <a:p>
            <a:pPr indent="0" lvl="0" marL="0" marR="0" rtl="0" algn="l">
              <a:lnSpc>
                <a:spcPct val="10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69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1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69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6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                        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9705346" y="269634"/>
            <a:ext cx="12466825" cy="14340878"/>
          </a:xfrm>
          <a:custGeom>
            <a:rect b="b" l="l" r="r" t="t"/>
            <a:pathLst>
              <a:path extrusionOk="0" h="14340878" w="12466825">
                <a:moveTo>
                  <a:pt x="0" y="0"/>
                </a:moveTo>
                <a:lnTo>
                  <a:pt x="12466825" y="0"/>
                </a:lnTo>
                <a:lnTo>
                  <a:pt x="12466825" y="14340878"/>
                </a:lnTo>
                <a:lnTo>
                  <a:pt x="0" y="14340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2047525" y="2641702"/>
            <a:ext cx="5003577" cy="5003577"/>
          </a:xfrm>
          <a:custGeom>
            <a:rect b="b" l="l" r="r" t="t"/>
            <a:pathLst>
              <a:path extrusionOk="0" h="6671437" w="6671437">
                <a:moveTo>
                  <a:pt x="3335782" y="0"/>
                </a:moveTo>
                <a:cubicBezTo>
                  <a:pt x="1493012" y="0"/>
                  <a:pt x="0" y="1493012"/>
                  <a:pt x="0" y="3335782"/>
                </a:cubicBezTo>
                <a:cubicBezTo>
                  <a:pt x="0" y="5178552"/>
                  <a:pt x="1493012" y="6671437"/>
                  <a:pt x="3335782" y="6671437"/>
                </a:cubicBezTo>
                <a:cubicBezTo>
                  <a:pt x="5178552" y="6671437"/>
                  <a:pt x="6671437" y="5178425"/>
                  <a:pt x="6671437" y="3335782"/>
                </a:cubicBezTo>
                <a:cubicBezTo>
                  <a:pt x="6671437" y="1493139"/>
                  <a:pt x="5178425" y="0"/>
                  <a:pt x="3335782" y="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24884" r="-2488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/>
          <p:nvPr/>
        </p:nvSpPr>
        <p:spPr>
          <a:xfrm>
            <a:off x="11396863" y="1991039"/>
            <a:ext cx="6304931" cy="6304931"/>
          </a:xfrm>
          <a:custGeom>
            <a:rect b="b" l="l" r="r" t="t"/>
            <a:pathLst>
              <a:path extrusionOk="0" h="6304931" w="6304931">
                <a:moveTo>
                  <a:pt x="0" y="0"/>
                </a:moveTo>
                <a:lnTo>
                  <a:pt x="6304930" y="0"/>
                </a:lnTo>
                <a:lnTo>
                  <a:pt x="6304930" y="6304931"/>
                </a:lnTo>
                <a:lnTo>
                  <a:pt x="0" y="6304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978476" y="2971162"/>
            <a:ext cx="7964091" cy="9811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32" u="none" cap="none" strike="noStrike">
                <a:solidFill>
                  <a:srgbClr val="2B1511"/>
                </a:solidFill>
                <a:latin typeface="Arial"/>
                <a:ea typeface="Arial"/>
                <a:cs typeface="Arial"/>
                <a:sym typeface="Arial"/>
              </a:rPr>
              <a:t>Team/Project 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3957476" y="4098427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2"/>
          <p:cNvGrpSpPr/>
          <p:nvPr/>
        </p:nvGrpSpPr>
        <p:grpSpPr>
          <a:xfrm>
            <a:off x="4036457" y="4075310"/>
            <a:ext cx="684514" cy="786612"/>
            <a:chOff x="0" y="-57150"/>
            <a:chExt cx="912685" cy="1048817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01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7134330" y="4098427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" name="Google Shape;98;p2"/>
          <p:cNvGrpSpPr/>
          <p:nvPr/>
        </p:nvGrpSpPr>
        <p:grpSpPr>
          <a:xfrm>
            <a:off x="7213311" y="4075310"/>
            <a:ext cx="684514" cy="786612"/>
            <a:chOff x="0" y="-57150"/>
            <a:chExt cx="912685" cy="1048817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02</a:t>
              </a:r>
              <a:endParaRPr/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3957476" y="6120403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2"/>
          <p:cNvGrpSpPr/>
          <p:nvPr/>
        </p:nvGrpSpPr>
        <p:grpSpPr>
          <a:xfrm>
            <a:off x="4036457" y="6097286"/>
            <a:ext cx="684514" cy="786612"/>
            <a:chOff x="0" y="-57150"/>
            <a:chExt cx="912685" cy="1048817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05</a:t>
              </a:r>
              <a:endParaRPr/>
            </a:p>
          </p:txBody>
        </p:sp>
      </p:grpSp>
      <p:sp>
        <p:nvSpPr>
          <p:cNvPr id="105" name="Google Shape;105;p2"/>
          <p:cNvSpPr/>
          <p:nvPr/>
        </p:nvSpPr>
        <p:spPr>
          <a:xfrm>
            <a:off x="7134330" y="6120403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7213311" y="6097286"/>
            <a:ext cx="684514" cy="786612"/>
            <a:chOff x="0" y="-57150"/>
            <a:chExt cx="912685" cy="1048817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06</a:t>
              </a:r>
              <a:endParaRPr/>
            </a:p>
          </p:txBody>
        </p:sp>
      </p:grpSp>
      <p:sp>
        <p:nvSpPr>
          <p:cNvPr id="109" name="Google Shape;109;p2"/>
          <p:cNvSpPr/>
          <p:nvPr/>
        </p:nvSpPr>
        <p:spPr>
          <a:xfrm>
            <a:off x="10311194" y="4098427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2"/>
          <p:cNvGrpSpPr/>
          <p:nvPr/>
        </p:nvGrpSpPr>
        <p:grpSpPr>
          <a:xfrm>
            <a:off x="10390175" y="4075310"/>
            <a:ext cx="684514" cy="786612"/>
            <a:chOff x="0" y="-57150"/>
            <a:chExt cx="912685" cy="1048817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03</a:t>
              </a:r>
              <a:endParaRPr/>
            </a:p>
          </p:txBody>
        </p:sp>
      </p:grpSp>
      <p:sp>
        <p:nvSpPr>
          <p:cNvPr id="113" name="Google Shape;113;p2"/>
          <p:cNvSpPr/>
          <p:nvPr/>
        </p:nvSpPr>
        <p:spPr>
          <a:xfrm>
            <a:off x="13454329" y="4101141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2"/>
          <p:cNvGrpSpPr/>
          <p:nvPr/>
        </p:nvGrpSpPr>
        <p:grpSpPr>
          <a:xfrm>
            <a:off x="13533310" y="4078024"/>
            <a:ext cx="684514" cy="786612"/>
            <a:chOff x="0" y="-57150"/>
            <a:chExt cx="912685" cy="1048817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04</a:t>
              </a:r>
              <a:endParaRPr/>
            </a:p>
          </p:txBody>
        </p:sp>
      </p:grpSp>
      <p:sp>
        <p:nvSpPr>
          <p:cNvPr id="117" name="Google Shape;117;p2"/>
          <p:cNvSpPr/>
          <p:nvPr/>
        </p:nvSpPr>
        <p:spPr>
          <a:xfrm>
            <a:off x="10311194" y="6120403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8" name="Google Shape;118;p2"/>
          <p:cNvGrpSpPr/>
          <p:nvPr/>
        </p:nvGrpSpPr>
        <p:grpSpPr>
          <a:xfrm>
            <a:off x="10390175" y="6097286"/>
            <a:ext cx="684514" cy="786612"/>
            <a:chOff x="0" y="-57150"/>
            <a:chExt cx="912685" cy="1048817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120" name="Google Shape;120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07</a:t>
              </a:r>
              <a:endParaRPr/>
            </a:p>
          </p:txBody>
        </p:sp>
      </p:grpSp>
      <p:sp>
        <p:nvSpPr>
          <p:cNvPr id="121" name="Google Shape;121;p2"/>
          <p:cNvSpPr/>
          <p:nvPr/>
        </p:nvSpPr>
        <p:spPr>
          <a:xfrm>
            <a:off x="13454329" y="6123118"/>
            <a:ext cx="842391" cy="842487"/>
          </a:xfrm>
          <a:custGeom>
            <a:rect b="b" l="l" r="r" t="t"/>
            <a:pathLst>
              <a:path extrusionOk="0" h="1123315" w="1123188">
                <a:moveTo>
                  <a:pt x="561594" y="0"/>
                </a:moveTo>
                <a:cubicBezTo>
                  <a:pt x="251460" y="0"/>
                  <a:pt x="0" y="251460"/>
                  <a:pt x="0" y="561594"/>
                </a:cubicBezTo>
                <a:cubicBezTo>
                  <a:pt x="0" y="871728"/>
                  <a:pt x="251460" y="1123315"/>
                  <a:pt x="561594" y="1123315"/>
                </a:cubicBezTo>
                <a:cubicBezTo>
                  <a:pt x="871728" y="1123315"/>
                  <a:pt x="1123188" y="871855"/>
                  <a:pt x="1123188" y="561721"/>
                </a:cubicBezTo>
                <a:cubicBezTo>
                  <a:pt x="1123188" y="251587"/>
                  <a:pt x="871855" y="0"/>
                  <a:pt x="561594" y="0"/>
                </a:cubicBezTo>
                <a:close/>
              </a:path>
            </a:pathLst>
          </a:custGeom>
          <a:solidFill>
            <a:srgbClr val="E0B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" name="Google Shape;122;p2"/>
          <p:cNvGrpSpPr/>
          <p:nvPr/>
        </p:nvGrpSpPr>
        <p:grpSpPr>
          <a:xfrm>
            <a:off x="13533310" y="6100001"/>
            <a:ext cx="684514" cy="786612"/>
            <a:chOff x="0" y="-57150"/>
            <a:chExt cx="912685" cy="1048817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912683" cy="991666"/>
            </a:xfrm>
            <a:custGeom>
              <a:rect b="b" l="l" r="r" t="t"/>
              <a:pathLst>
                <a:path extrusionOk="0" h="991666" w="912683">
                  <a:moveTo>
                    <a:pt x="0" y="0"/>
                  </a:moveTo>
                  <a:lnTo>
                    <a:pt x="912683" y="0"/>
                  </a:lnTo>
                  <a:lnTo>
                    <a:pt x="912683" y="991666"/>
                  </a:lnTo>
                  <a:lnTo>
                    <a:pt x="0" y="99166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89408" r="-89408" t="0"/>
              </a:stretch>
            </a:blip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57150"/>
              <a:ext cx="912685" cy="1048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549" u="none" cap="none" strike="noStrik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08</a:t>
              </a:r>
              <a:endParaRPr/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4454093" y="1595792"/>
            <a:ext cx="9379814" cy="1321537"/>
            <a:chOff x="0" y="-70811"/>
            <a:chExt cx="12506419" cy="1762050"/>
          </a:xfrm>
        </p:grpSpPr>
        <p:grpSp>
          <p:nvGrpSpPr>
            <p:cNvPr id="126" name="Google Shape;126;p2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127" name="Google Shape;127;p2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2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" name="Google Shape;129;p2"/>
            <p:cNvGrpSpPr/>
            <p:nvPr/>
          </p:nvGrpSpPr>
          <p:grpSpPr>
            <a:xfrm>
              <a:off x="1547516" y="0"/>
              <a:ext cx="9411391" cy="1691239"/>
              <a:chOff x="0" y="0"/>
              <a:chExt cx="9411391" cy="1691239"/>
            </a:xfrm>
          </p:grpSpPr>
          <p:sp>
            <p:nvSpPr>
              <p:cNvPr id="130" name="Google Shape;130;p2"/>
              <p:cNvSpPr/>
              <p:nvPr/>
            </p:nvSpPr>
            <p:spPr>
              <a:xfrm>
                <a:off x="0" y="0"/>
                <a:ext cx="9411391" cy="1691239"/>
              </a:xfrm>
              <a:custGeom>
                <a:rect b="b" l="l" r="r" t="t"/>
                <a:pathLst>
                  <a:path extrusionOk="0" h="1691239" w="9411391">
                    <a:moveTo>
                      <a:pt x="0" y="0"/>
                    </a:moveTo>
                    <a:lnTo>
                      <a:pt x="9411391" y="0"/>
                    </a:lnTo>
                    <a:lnTo>
                      <a:pt x="9411391" y="1691239"/>
                    </a:lnTo>
                    <a:lnTo>
                      <a:pt x="0" y="1691239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58428" l="0" r="0" t="-58430"/>
                </a:stretch>
              </a:blipFill>
              <a:ln>
                <a:noFill/>
              </a:ln>
            </p:spPr>
          </p:sp>
          <p:sp>
            <p:nvSpPr>
              <p:cNvPr id="131" name="Google Shape;131;p2"/>
              <p:cNvSpPr txBox="1"/>
              <p:nvPr/>
            </p:nvSpPr>
            <p:spPr>
              <a:xfrm>
                <a:off x="0" y="0"/>
                <a:ext cx="9411386" cy="16912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Table of Contents</a:t>
                </a:r>
                <a:endParaRPr/>
              </a:p>
            </p:txBody>
          </p:sp>
        </p:grpSp>
      </p:grpSp>
      <p:sp>
        <p:nvSpPr>
          <p:cNvPr id="132" name="Google Shape;132;p2"/>
          <p:cNvSpPr txBox="1"/>
          <p:nvPr/>
        </p:nvSpPr>
        <p:spPr>
          <a:xfrm>
            <a:off x="12320854" y="7060873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/>
          </a:p>
        </p:txBody>
      </p:sp>
      <p:sp>
        <p:nvSpPr>
          <p:cNvPr id="133" name="Google Shape;133;p2"/>
          <p:cNvSpPr txBox="1"/>
          <p:nvPr/>
        </p:nvSpPr>
        <p:spPr>
          <a:xfrm>
            <a:off x="2790292" y="5038906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Objectives/Goal</a:t>
            </a:r>
            <a:endParaRPr/>
          </a:p>
        </p:txBody>
      </p:sp>
      <p:sp>
        <p:nvSpPr>
          <p:cNvPr id="134" name="Google Shape;134;p2"/>
          <p:cNvSpPr txBox="1"/>
          <p:nvPr/>
        </p:nvSpPr>
        <p:spPr>
          <a:xfrm>
            <a:off x="5967146" y="5038906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2790292" y="7060873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Business Model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5967146" y="7060873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Start-up Plan</a:t>
            </a:r>
            <a:endParaRPr/>
          </a:p>
        </p:txBody>
      </p:sp>
      <p:sp>
        <p:nvSpPr>
          <p:cNvPr id="137" name="Google Shape;137;p2"/>
          <p:cNvSpPr txBox="1"/>
          <p:nvPr/>
        </p:nvSpPr>
        <p:spPr>
          <a:xfrm>
            <a:off x="9144000" y="5038906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Solution</a:t>
            </a:r>
            <a:endParaRPr/>
          </a:p>
        </p:txBody>
      </p:sp>
      <p:sp>
        <p:nvSpPr>
          <p:cNvPr id="138" name="Google Shape;138;p2"/>
          <p:cNvSpPr txBox="1"/>
          <p:nvPr/>
        </p:nvSpPr>
        <p:spPr>
          <a:xfrm>
            <a:off x="12320854" y="5038906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Market Analysis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9144000" y="7060873"/>
            <a:ext cx="3176854" cy="395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6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Revenue Generation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"/>
          <p:cNvSpPr txBox="1"/>
          <p:nvPr/>
        </p:nvSpPr>
        <p:spPr>
          <a:xfrm>
            <a:off x="2879398" y="4043603"/>
            <a:ext cx="5887555" cy="109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provide companies with a user-friendly and efficient AI chatbot that effectively answers customer FAQs</a:t>
            </a:r>
            <a:endParaRPr/>
          </a:p>
        </p:txBody>
      </p:sp>
      <p:grpSp>
        <p:nvGrpSpPr>
          <p:cNvPr id="145" name="Google Shape;145;p3"/>
          <p:cNvGrpSpPr/>
          <p:nvPr/>
        </p:nvGrpSpPr>
        <p:grpSpPr>
          <a:xfrm>
            <a:off x="11726387" y="3367464"/>
            <a:ext cx="5195615" cy="5183380"/>
            <a:chOff x="0" y="0"/>
            <a:chExt cx="6927486" cy="6911173"/>
          </a:xfrm>
        </p:grpSpPr>
        <p:sp>
          <p:nvSpPr>
            <p:cNvPr id="146" name="Google Shape;146;p3"/>
            <p:cNvSpPr/>
            <p:nvPr/>
          </p:nvSpPr>
          <p:spPr>
            <a:xfrm>
              <a:off x="2787353" y="0"/>
              <a:ext cx="1352492" cy="1352492"/>
            </a:xfrm>
            <a:custGeom>
              <a:rect b="b" l="l" r="r" t="t"/>
              <a:pathLst>
                <a:path extrusionOk="0" h="1917446" w="1917446">
                  <a:moveTo>
                    <a:pt x="0" y="958723"/>
                  </a:moveTo>
                  <a:cubicBezTo>
                    <a:pt x="0" y="429260"/>
                    <a:pt x="429260" y="0"/>
                    <a:pt x="958723" y="0"/>
                  </a:cubicBezTo>
                  <a:cubicBezTo>
                    <a:pt x="1488186" y="0"/>
                    <a:pt x="1917446" y="429260"/>
                    <a:pt x="1917446" y="958723"/>
                  </a:cubicBezTo>
                  <a:cubicBezTo>
                    <a:pt x="1917446" y="1488186"/>
                    <a:pt x="1488186" y="1917446"/>
                    <a:pt x="958723" y="1917446"/>
                  </a:cubicBezTo>
                  <a:cubicBezTo>
                    <a:pt x="429260" y="1917446"/>
                    <a:pt x="0" y="1488313"/>
                    <a:pt x="0" y="958723"/>
                  </a:cubicBezTo>
                  <a:close/>
                </a:path>
              </a:pathLst>
            </a:custGeom>
            <a:solidFill>
              <a:srgbClr val="EF52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1663015" y="521226"/>
              <a:ext cx="3602674" cy="619093"/>
            </a:xfrm>
            <a:custGeom>
              <a:rect b="b" l="l" r="r" t="t"/>
              <a:pathLst>
                <a:path extrusionOk="0" h="877697" w="5107559">
                  <a:moveTo>
                    <a:pt x="462280" y="877697"/>
                  </a:moveTo>
                  <a:cubicBezTo>
                    <a:pt x="1086231" y="461899"/>
                    <a:pt x="1802638" y="254000"/>
                    <a:pt x="2565400" y="254000"/>
                  </a:cubicBezTo>
                  <a:cubicBezTo>
                    <a:pt x="3305048" y="254000"/>
                    <a:pt x="4021328" y="461899"/>
                    <a:pt x="4668520" y="877697"/>
                  </a:cubicBezTo>
                  <a:cubicBezTo>
                    <a:pt x="5107559" y="877697"/>
                    <a:pt x="5107559" y="877697"/>
                    <a:pt x="5107559" y="877697"/>
                  </a:cubicBezTo>
                  <a:cubicBezTo>
                    <a:pt x="4899533" y="716026"/>
                    <a:pt x="4899533" y="716026"/>
                    <a:pt x="4899533" y="716026"/>
                  </a:cubicBezTo>
                  <a:cubicBezTo>
                    <a:pt x="4206240" y="254127"/>
                    <a:pt x="3397250" y="0"/>
                    <a:pt x="2565273" y="0"/>
                  </a:cubicBezTo>
                  <a:cubicBezTo>
                    <a:pt x="1710182" y="0"/>
                    <a:pt x="901319" y="254127"/>
                    <a:pt x="208026" y="716026"/>
                  </a:cubicBezTo>
                  <a:cubicBezTo>
                    <a:pt x="0" y="877697"/>
                    <a:pt x="0" y="877697"/>
                    <a:pt x="0" y="877697"/>
                  </a:cubicBezTo>
                  <a:lnTo>
                    <a:pt x="462280" y="877697"/>
                  </a:lnTo>
                  <a:close/>
                </a:path>
              </a:pathLst>
            </a:custGeom>
            <a:solidFill>
              <a:srgbClr val="EF52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787353" y="5558681"/>
              <a:ext cx="1352492" cy="1352492"/>
            </a:xfrm>
            <a:custGeom>
              <a:rect b="b" l="l" r="r" t="t"/>
              <a:pathLst>
                <a:path extrusionOk="0" h="1917446" w="1917446">
                  <a:moveTo>
                    <a:pt x="0" y="958723"/>
                  </a:moveTo>
                  <a:cubicBezTo>
                    <a:pt x="0" y="429260"/>
                    <a:pt x="429260" y="0"/>
                    <a:pt x="958723" y="0"/>
                  </a:cubicBezTo>
                  <a:cubicBezTo>
                    <a:pt x="1488186" y="0"/>
                    <a:pt x="1917446" y="429260"/>
                    <a:pt x="1917446" y="958723"/>
                  </a:cubicBezTo>
                  <a:cubicBezTo>
                    <a:pt x="1917446" y="1488186"/>
                    <a:pt x="1488186" y="1917446"/>
                    <a:pt x="958723" y="1917446"/>
                  </a:cubicBezTo>
                  <a:cubicBezTo>
                    <a:pt x="429260" y="1917446"/>
                    <a:pt x="0" y="1488313"/>
                    <a:pt x="0" y="958723"/>
                  </a:cubicBezTo>
                  <a:close/>
                </a:path>
              </a:pathLst>
            </a:custGeom>
            <a:solidFill>
              <a:srgbClr val="EF52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1646684" y="5770880"/>
              <a:ext cx="3635084" cy="619129"/>
            </a:xfrm>
            <a:custGeom>
              <a:rect b="b" l="l" r="r" t="t"/>
              <a:pathLst>
                <a:path extrusionOk="0" h="619129" w="3635084">
                  <a:moveTo>
                    <a:pt x="0" y="0"/>
                  </a:moveTo>
                  <a:lnTo>
                    <a:pt x="3635085" y="0"/>
                  </a:lnTo>
                  <a:lnTo>
                    <a:pt x="3635085" y="619129"/>
                  </a:lnTo>
                  <a:lnTo>
                    <a:pt x="0" y="61912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0" name="Google Shape;150;p3"/>
            <p:cNvSpPr/>
            <p:nvPr/>
          </p:nvSpPr>
          <p:spPr>
            <a:xfrm>
              <a:off x="0" y="2787362"/>
              <a:ext cx="1352492" cy="1336547"/>
            </a:xfrm>
            <a:custGeom>
              <a:rect b="b" l="l" r="r" t="t"/>
              <a:pathLst>
                <a:path extrusionOk="0" h="1894840" w="1917446">
                  <a:moveTo>
                    <a:pt x="0" y="947420"/>
                  </a:moveTo>
                  <a:cubicBezTo>
                    <a:pt x="0" y="424180"/>
                    <a:pt x="429260" y="0"/>
                    <a:pt x="958723" y="0"/>
                  </a:cubicBezTo>
                  <a:cubicBezTo>
                    <a:pt x="1488186" y="0"/>
                    <a:pt x="1917446" y="424180"/>
                    <a:pt x="1917446" y="947420"/>
                  </a:cubicBezTo>
                  <a:cubicBezTo>
                    <a:pt x="1917446" y="1470660"/>
                    <a:pt x="1488186" y="1894840"/>
                    <a:pt x="958723" y="1894840"/>
                  </a:cubicBezTo>
                  <a:cubicBezTo>
                    <a:pt x="429260" y="1894840"/>
                    <a:pt x="0" y="1470660"/>
                    <a:pt x="0" y="947420"/>
                  </a:cubicBezTo>
                  <a:close/>
                </a:path>
              </a:pathLst>
            </a:custGeom>
            <a:solidFill>
              <a:srgbClr val="A44F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38390" y="1646693"/>
              <a:ext cx="619093" cy="3617544"/>
            </a:xfrm>
            <a:custGeom>
              <a:rect b="b" l="l" r="r" t="t"/>
              <a:pathLst>
                <a:path extrusionOk="0" h="5128641" w="877697">
                  <a:moveTo>
                    <a:pt x="877697" y="4666742"/>
                  </a:moveTo>
                  <a:cubicBezTo>
                    <a:pt x="462026" y="4042918"/>
                    <a:pt x="254127" y="3326638"/>
                    <a:pt x="254127" y="2564384"/>
                  </a:cubicBezTo>
                  <a:cubicBezTo>
                    <a:pt x="254127" y="1802130"/>
                    <a:pt x="462026" y="1085723"/>
                    <a:pt x="877697" y="462153"/>
                  </a:cubicBezTo>
                  <a:cubicBezTo>
                    <a:pt x="877697" y="0"/>
                    <a:pt x="877697" y="0"/>
                    <a:pt x="877697" y="0"/>
                  </a:cubicBezTo>
                  <a:cubicBezTo>
                    <a:pt x="716026" y="207899"/>
                    <a:pt x="716026" y="207899"/>
                    <a:pt x="716026" y="207899"/>
                  </a:cubicBezTo>
                  <a:cubicBezTo>
                    <a:pt x="231013" y="924052"/>
                    <a:pt x="0" y="1732661"/>
                    <a:pt x="0" y="2564384"/>
                  </a:cubicBezTo>
                  <a:cubicBezTo>
                    <a:pt x="0" y="3396107"/>
                    <a:pt x="231013" y="4204589"/>
                    <a:pt x="716026" y="4920742"/>
                  </a:cubicBezTo>
                  <a:cubicBezTo>
                    <a:pt x="877697" y="5128641"/>
                    <a:pt x="877697" y="5128641"/>
                    <a:pt x="877697" y="5128641"/>
                  </a:cubicBezTo>
                  <a:lnTo>
                    <a:pt x="877697" y="4666742"/>
                  </a:lnTo>
                  <a:close/>
                </a:path>
              </a:pathLst>
            </a:custGeom>
            <a:solidFill>
              <a:srgbClr val="A44F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574994" y="2787362"/>
              <a:ext cx="1352492" cy="1336547"/>
            </a:xfrm>
            <a:custGeom>
              <a:rect b="b" l="l" r="r" t="t"/>
              <a:pathLst>
                <a:path extrusionOk="0" h="1894840" w="1917446">
                  <a:moveTo>
                    <a:pt x="0" y="947420"/>
                  </a:moveTo>
                  <a:cubicBezTo>
                    <a:pt x="0" y="424180"/>
                    <a:pt x="429260" y="0"/>
                    <a:pt x="958723" y="0"/>
                  </a:cubicBezTo>
                  <a:cubicBezTo>
                    <a:pt x="1488186" y="0"/>
                    <a:pt x="1917446" y="424180"/>
                    <a:pt x="1917446" y="947420"/>
                  </a:cubicBezTo>
                  <a:cubicBezTo>
                    <a:pt x="1917446" y="1470660"/>
                    <a:pt x="1488186" y="1894840"/>
                    <a:pt x="958723" y="1894840"/>
                  </a:cubicBezTo>
                  <a:cubicBezTo>
                    <a:pt x="429260" y="1894840"/>
                    <a:pt x="0" y="1470660"/>
                    <a:pt x="0" y="947420"/>
                  </a:cubicBezTo>
                  <a:close/>
                </a:path>
              </a:pathLst>
            </a:custGeom>
            <a:solidFill>
              <a:srgbClr val="A44F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827576" y="1612079"/>
              <a:ext cx="619093" cy="3652212"/>
            </a:xfrm>
            <a:custGeom>
              <a:rect b="b" l="l" r="r" t="t"/>
              <a:pathLst>
                <a:path extrusionOk="0" h="5177790" w="877697">
                  <a:moveTo>
                    <a:pt x="161671" y="23114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62280"/>
                    <a:pt x="0" y="462280"/>
                    <a:pt x="0" y="462280"/>
                  </a:cubicBezTo>
                  <a:cubicBezTo>
                    <a:pt x="415798" y="1086358"/>
                    <a:pt x="623697" y="1826133"/>
                    <a:pt x="623697" y="2588895"/>
                  </a:cubicBezTo>
                  <a:cubicBezTo>
                    <a:pt x="623697" y="3351657"/>
                    <a:pt x="415798" y="4091432"/>
                    <a:pt x="0" y="4715510"/>
                  </a:cubicBezTo>
                  <a:cubicBezTo>
                    <a:pt x="0" y="5177790"/>
                    <a:pt x="0" y="5177790"/>
                    <a:pt x="0" y="5177790"/>
                  </a:cubicBezTo>
                  <a:cubicBezTo>
                    <a:pt x="161671" y="4946650"/>
                    <a:pt x="161671" y="4946650"/>
                    <a:pt x="161671" y="4946650"/>
                  </a:cubicBezTo>
                  <a:cubicBezTo>
                    <a:pt x="646811" y="4229989"/>
                    <a:pt x="877697" y="3421126"/>
                    <a:pt x="877697" y="2588895"/>
                  </a:cubicBezTo>
                  <a:cubicBezTo>
                    <a:pt x="877697" y="1756664"/>
                    <a:pt x="646811" y="947674"/>
                    <a:pt x="161671" y="231140"/>
                  </a:cubicBezTo>
                  <a:close/>
                </a:path>
              </a:pathLst>
            </a:custGeom>
            <a:solidFill>
              <a:srgbClr val="A44F3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337577" y="3116778"/>
              <a:ext cx="677437" cy="677437"/>
            </a:xfrm>
            <a:custGeom>
              <a:rect b="b" l="l" r="r" t="t"/>
              <a:pathLst>
                <a:path extrusionOk="0" h="677437" w="677437">
                  <a:moveTo>
                    <a:pt x="0" y="0"/>
                  </a:moveTo>
                  <a:lnTo>
                    <a:pt x="677437" y="0"/>
                  </a:lnTo>
                  <a:lnTo>
                    <a:pt x="677437" y="677438"/>
                  </a:lnTo>
                  <a:lnTo>
                    <a:pt x="0" y="6774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5" name="Google Shape;155;p3"/>
            <p:cNvSpPr/>
            <p:nvPr/>
          </p:nvSpPr>
          <p:spPr>
            <a:xfrm>
              <a:off x="5827576" y="3031927"/>
              <a:ext cx="847426" cy="847426"/>
            </a:xfrm>
            <a:custGeom>
              <a:rect b="b" l="l" r="r" t="t"/>
              <a:pathLst>
                <a:path extrusionOk="0" h="847426" w="847426">
                  <a:moveTo>
                    <a:pt x="0" y="0"/>
                  </a:moveTo>
                  <a:lnTo>
                    <a:pt x="847426" y="0"/>
                  </a:lnTo>
                  <a:lnTo>
                    <a:pt x="847426" y="847426"/>
                  </a:lnTo>
                  <a:lnTo>
                    <a:pt x="0" y="84742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6" name="Google Shape;156;p3"/>
            <p:cNvSpPr/>
            <p:nvPr/>
          </p:nvSpPr>
          <p:spPr>
            <a:xfrm>
              <a:off x="3066747" y="5915661"/>
              <a:ext cx="793803" cy="793803"/>
            </a:xfrm>
            <a:custGeom>
              <a:rect b="b" l="l" r="r" t="t"/>
              <a:pathLst>
                <a:path extrusionOk="0" h="793803" w="793803">
                  <a:moveTo>
                    <a:pt x="0" y="0"/>
                  </a:moveTo>
                  <a:lnTo>
                    <a:pt x="793803" y="0"/>
                  </a:lnTo>
                  <a:lnTo>
                    <a:pt x="793803" y="793803"/>
                  </a:lnTo>
                  <a:lnTo>
                    <a:pt x="0" y="79380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7" name="Google Shape;157;p3"/>
            <p:cNvSpPr/>
            <p:nvPr/>
          </p:nvSpPr>
          <p:spPr>
            <a:xfrm>
              <a:off x="3058586" y="254239"/>
              <a:ext cx="801964" cy="886152"/>
            </a:xfrm>
            <a:custGeom>
              <a:rect b="b" l="l" r="r" t="t"/>
              <a:pathLst>
                <a:path extrusionOk="0" h="886152" w="801964">
                  <a:moveTo>
                    <a:pt x="0" y="0"/>
                  </a:moveTo>
                  <a:lnTo>
                    <a:pt x="801964" y="0"/>
                  </a:lnTo>
                  <a:lnTo>
                    <a:pt x="801964" y="886152"/>
                  </a:lnTo>
                  <a:lnTo>
                    <a:pt x="0" y="88615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-225" r="-226" t="0"/>
              </a:stretch>
            </a:blipFill>
            <a:ln>
              <a:noFill/>
            </a:ln>
          </p:spPr>
        </p:sp>
        <p:sp>
          <p:nvSpPr>
            <p:cNvPr id="158" name="Google Shape;158;p3"/>
            <p:cNvSpPr/>
            <p:nvPr/>
          </p:nvSpPr>
          <p:spPr>
            <a:xfrm>
              <a:off x="3098432" y="2571589"/>
              <a:ext cx="762118" cy="762118"/>
            </a:xfrm>
            <a:custGeom>
              <a:rect b="b" l="l" r="r" t="t"/>
              <a:pathLst>
                <a:path extrusionOk="0" h="762118" w="762118">
                  <a:moveTo>
                    <a:pt x="0" y="0"/>
                  </a:moveTo>
                  <a:lnTo>
                    <a:pt x="762118" y="0"/>
                  </a:lnTo>
                  <a:lnTo>
                    <a:pt x="762118" y="762118"/>
                  </a:lnTo>
                  <a:lnTo>
                    <a:pt x="0" y="76211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59" name="Google Shape;159;p3"/>
            <p:cNvSpPr txBox="1"/>
            <p:nvPr/>
          </p:nvSpPr>
          <p:spPr>
            <a:xfrm>
              <a:off x="2576167" y="3463158"/>
              <a:ext cx="1776371" cy="332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302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594" u="none" cap="none" strike="noStrike">
                  <a:solidFill>
                    <a:srgbClr val="2B1511"/>
                  </a:solidFill>
                  <a:latin typeface="DM Sans"/>
                  <a:ea typeface="DM Sans"/>
                  <a:cs typeface="DM Sans"/>
                  <a:sym typeface="DM Sans"/>
                </a:rPr>
                <a:t>INFO-AI</a:t>
              </a:r>
              <a:endParaRPr/>
            </a:p>
          </p:txBody>
        </p:sp>
      </p:grpSp>
      <p:sp>
        <p:nvSpPr>
          <p:cNvPr id="160" name="Google Shape;160;p3"/>
          <p:cNvSpPr txBox="1"/>
          <p:nvPr/>
        </p:nvSpPr>
        <p:spPr>
          <a:xfrm>
            <a:off x="1704032" y="4005531"/>
            <a:ext cx="877957" cy="1000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1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30" u="none" cap="none" strike="noStrike">
                <a:solidFill>
                  <a:srgbClr val="A44F30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1694449" y="7302439"/>
            <a:ext cx="838543" cy="94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7" u="none" cap="none" strike="noStrike">
                <a:solidFill>
                  <a:srgbClr val="A44F30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2879398" y="5684189"/>
            <a:ext cx="5887555" cy="1448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offer personalized support by seamlessly connecting users with human company assistants when needed</a:t>
            </a:r>
            <a:endParaRPr/>
          </a:p>
          <a:p>
            <a:pPr indent="0" lvl="0" marL="0" marR="0" rtl="0" algn="l">
              <a:lnSpc>
                <a:spcPct val="152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5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2879398" y="7454839"/>
            <a:ext cx="5887555" cy="109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2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7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create a knowledge base that stores solutions provided by human assistants for future reference</a:t>
            </a:r>
            <a:endParaRPr/>
          </a:p>
          <a:p>
            <a:pPr indent="0" lvl="0" marL="0" marR="0" rtl="0" algn="l">
              <a:lnSpc>
                <a:spcPct val="1520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57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1743436" y="5776867"/>
            <a:ext cx="838543" cy="949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2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7" u="none" cap="none" strike="noStrike">
                <a:solidFill>
                  <a:srgbClr val="A44F30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grpSp>
        <p:nvGrpSpPr>
          <p:cNvPr id="165" name="Google Shape;165;p3"/>
          <p:cNvGrpSpPr/>
          <p:nvPr/>
        </p:nvGrpSpPr>
        <p:grpSpPr>
          <a:xfrm>
            <a:off x="4454093" y="1595792"/>
            <a:ext cx="9379814" cy="1321541"/>
            <a:chOff x="0" y="-70811"/>
            <a:chExt cx="12506419" cy="1762055"/>
          </a:xfrm>
        </p:grpSpPr>
        <p:grpSp>
          <p:nvGrpSpPr>
            <p:cNvPr id="166" name="Google Shape;166;p3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167" name="Google Shape;167;p3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3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3"/>
            <p:cNvGrpSpPr/>
            <p:nvPr/>
          </p:nvGrpSpPr>
          <p:grpSpPr>
            <a:xfrm>
              <a:off x="1547516" y="0"/>
              <a:ext cx="9411391" cy="1691244"/>
              <a:chOff x="0" y="0"/>
              <a:chExt cx="9411391" cy="1691244"/>
            </a:xfrm>
          </p:grpSpPr>
          <p:sp>
            <p:nvSpPr>
              <p:cNvPr id="170" name="Google Shape;170;p3"/>
              <p:cNvSpPr/>
              <p:nvPr/>
            </p:nvSpPr>
            <p:spPr>
              <a:xfrm>
                <a:off x="0" y="0"/>
                <a:ext cx="9411391" cy="1691244"/>
              </a:xfrm>
              <a:custGeom>
                <a:rect b="b" l="l" r="r" t="t"/>
                <a:pathLst>
                  <a:path extrusionOk="0" h="1691244" w="9411391">
                    <a:moveTo>
                      <a:pt x="0" y="0"/>
                    </a:moveTo>
                    <a:lnTo>
                      <a:pt x="9411391" y="0"/>
                    </a:lnTo>
                    <a:lnTo>
                      <a:pt x="9411391" y="1691244"/>
                    </a:lnTo>
                    <a:lnTo>
                      <a:pt x="0" y="1691244"/>
                    </a:lnTo>
                    <a:close/>
                  </a:path>
                </a:pathLst>
              </a:custGeom>
              <a:blipFill rotWithShape="1">
                <a:blip r:embed="rId9">
                  <a:alphaModFix amt="0"/>
                </a:blip>
                <a:stretch>
                  <a:fillRect b="-58428" l="0" r="0" t="-58430"/>
                </a:stretch>
              </a:blipFill>
              <a:ln>
                <a:noFill/>
              </a:ln>
            </p:spPr>
          </p:sp>
          <p:sp>
            <p:nvSpPr>
              <p:cNvPr id="171" name="Google Shape;171;p3"/>
              <p:cNvSpPr txBox="1"/>
              <p:nvPr/>
            </p:nvSpPr>
            <p:spPr>
              <a:xfrm>
                <a:off x="0" y="0"/>
                <a:ext cx="9411386" cy="1691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Our Objectives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/>
        </p:nvSpPr>
        <p:spPr>
          <a:xfrm>
            <a:off x="2369629" y="4361619"/>
            <a:ext cx="3676540" cy="4513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92" u="none" cap="none" strike="noStrike">
                <a:solidFill>
                  <a:srgbClr val="FFFAEB"/>
                </a:solidFill>
                <a:latin typeface="DM Sans"/>
                <a:ea typeface="DM Sans"/>
                <a:cs typeface="DM Sans"/>
                <a:sym typeface="DM Sans"/>
              </a:rPr>
              <a:t>Planning</a:t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9309363" y="6425165"/>
            <a:ext cx="4895023" cy="2833135"/>
          </a:xfrm>
          <a:custGeom>
            <a:rect b="b" l="l" r="r" t="t"/>
            <a:pathLst>
              <a:path extrusionOk="0" h="2833135" w="4895023">
                <a:moveTo>
                  <a:pt x="0" y="0"/>
                </a:moveTo>
                <a:lnTo>
                  <a:pt x="4895023" y="0"/>
                </a:lnTo>
                <a:lnTo>
                  <a:pt x="4895023" y="2833135"/>
                </a:lnTo>
                <a:lnTo>
                  <a:pt x="0" y="2833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4"/>
          <p:cNvSpPr/>
          <p:nvPr/>
        </p:nvSpPr>
        <p:spPr>
          <a:xfrm>
            <a:off x="9309363" y="3623892"/>
            <a:ext cx="4895023" cy="2833135"/>
          </a:xfrm>
          <a:custGeom>
            <a:rect b="b" l="l" r="r" t="t"/>
            <a:pathLst>
              <a:path extrusionOk="0" h="2833135" w="4895023">
                <a:moveTo>
                  <a:pt x="0" y="0"/>
                </a:moveTo>
                <a:lnTo>
                  <a:pt x="4895023" y="0"/>
                </a:lnTo>
                <a:lnTo>
                  <a:pt x="4895023" y="2833134"/>
                </a:lnTo>
                <a:lnTo>
                  <a:pt x="0" y="2833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9" name="Google Shape;179;p4"/>
          <p:cNvSpPr/>
          <p:nvPr/>
        </p:nvSpPr>
        <p:spPr>
          <a:xfrm>
            <a:off x="4207899" y="6425165"/>
            <a:ext cx="4895023" cy="2833135"/>
          </a:xfrm>
          <a:custGeom>
            <a:rect b="b" l="l" r="r" t="t"/>
            <a:pathLst>
              <a:path extrusionOk="0" h="2833135" w="4895023">
                <a:moveTo>
                  <a:pt x="0" y="0"/>
                </a:moveTo>
                <a:lnTo>
                  <a:pt x="4895023" y="0"/>
                </a:lnTo>
                <a:lnTo>
                  <a:pt x="4895023" y="2833135"/>
                </a:lnTo>
                <a:lnTo>
                  <a:pt x="0" y="28331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4"/>
          <p:cNvSpPr/>
          <p:nvPr/>
        </p:nvSpPr>
        <p:spPr>
          <a:xfrm>
            <a:off x="4207899" y="3623892"/>
            <a:ext cx="4895023" cy="2833135"/>
          </a:xfrm>
          <a:custGeom>
            <a:rect b="b" l="l" r="r" t="t"/>
            <a:pathLst>
              <a:path extrusionOk="0" h="2833135" w="4895023">
                <a:moveTo>
                  <a:pt x="0" y="0"/>
                </a:moveTo>
                <a:lnTo>
                  <a:pt x="4895023" y="0"/>
                </a:lnTo>
                <a:lnTo>
                  <a:pt x="4895023" y="2833134"/>
                </a:lnTo>
                <a:lnTo>
                  <a:pt x="0" y="28331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4"/>
          <p:cNvSpPr txBox="1"/>
          <p:nvPr/>
        </p:nvSpPr>
        <p:spPr>
          <a:xfrm>
            <a:off x="9488941" y="4907334"/>
            <a:ext cx="4535868" cy="120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16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Challenges in handling large volumes of customer queries efficiently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4567055" y="7650478"/>
            <a:ext cx="4535868" cy="1205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16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Traditional customer support methods  slow and resource-intensive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9668519" y="7680704"/>
            <a:ext cx="4535868" cy="81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16" u="none" cap="none" strike="noStrike">
                <a:solidFill>
                  <a:srgbClr val="A44F30"/>
                </a:solidFill>
                <a:latin typeface="DM Sans"/>
                <a:ea typeface="DM Sans"/>
                <a:cs typeface="DM Sans"/>
                <a:sym typeface="DM Sans"/>
              </a:rPr>
              <a:t>Static FAQs often become outdated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4387477" y="4974273"/>
            <a:ext cx="4535868" cy="8180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16" u="none" cap="none" strike="noStrike">
                <a:solidFill>
                  <a:srgbClr val="A44F30"/>
                </a:solidFill>
                <a:latin typeface="DM Sans"/>
                <a:ea typeface="DM Sans"/>
                <a:cs typeface="DM Sans"/>
                <a:sym typeface="DM Sans"/>
              </a:rPr>
              <a:t>Struggle to find relevant information</a:t>
            </a:r>
            <a:endParaRPr/>
          </a:p>
        </p:txBody>
      </p:sp>
      <p:sp>
        <p:nvSpPr>
          <p:cNvPr id="185" name="Google Shape;185;p4"/>
          <p:cNvSpPr txBox="1"/>
          <p:nvPr/>
        </p:nvSpPr>
        <p:spPr>
          <a:xfrm>
            <a:off x="6195151" y="3942286"/>
            <a:ext cx="845401" cy="866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6" u="none" cap="none" strike="noStrike">
                <a:solidFill>
                  <a:srgbClr val="F37335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186" name="Google Shape;186;p4"/>
          <p:cNvSpPr txBox="1"/>
          <p:nvPr/>
        </p:nvSpPr>
        <p:spPr>
          <a:xfrm>
            <a:off x="11334170" y="3946630"/>
            <a:ext cx="845401" cy="866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6" u="none" cap="none" strike="noStrike">
                <a:solidFill>
                  <a:srgbClr val="F37335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187" name="Google Shape;187;p4"/>
          <p:cNvSpPr txBox="1"/>
          <p:nvPr/>
        </p:nvSpPr>
        <p:spPr>
          <a:xfrm>
            <a:off x="6232706" y="6570064"/>
            <a:ext cx="845401" cy="866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6" u="none" cap="none" strike="noStrike">
                <a:solidFill>
                  <a:srgbClr val="F37335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188" name="Google Shape;188;p4"/>
          <p:cNvSpPr txBox="1"/>
          <p:nvPr/>
        </p:nvSpPr>
        <p:spPr>
          <a:xfrm>
            <a:off x="11513748" y="6570064"/>
            <a:ext cx="845401" cy="866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706" u="none" cap="none" strike="noStrike">
                <a:solidFill>
                  <a:srgbClr val="F37335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/>
          </a:p>
        </p:txBody>
      </p:sp>
      <p:grpSp>
        <p:nvGrpSpPr>
          <p:cNvPr id="189" name="Google Shape;189;p4"/>
          <p:cNvGrpSpPr/>
          <p:nvPr/>
        </p:nvGrpSpPr>
        <p:grpSpPr>
          <a:xfrm>
            <a:off x="4454093" y="1595792"/>
            <a:ext cx="9379817" cy="1321541"/>
            <a:chOff x="0" y="-70811"/>
            <a:chExt cx="12506423" cy="1762055"/>
          </a:xfrm>
        </p:grpSpPr>
        <p:grpSp>
          <p:nvGrpSpPr>
            <p:cNvPr id="190" name="Google Shape;190;p4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191" name="Google Shape;191;p4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4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" name="Google Shape;193;p4"/>
            <p:cNvGrpSpPr/>
            <p:nvPr/>
          </p:nvGrpSpPr>
          <p:grpSpPr>
            <a:xfrm>
              <a:off x="0" y="0"/>
              <a:ext cx="12506423" cy="1691244"/>
              <a:chOff x="0" y="0"/>
              <a:chExt cx="12506423" cy="1691244"/>
            </a:xfrm>
          </p:grpSpPr>
          <p:sp>
            <p:nvSpPr>
              <p:cNvPr id="194" name="Google Shape;194;p4"/>
              <p:cNvSpPr/>
              <p:nvPr/>
            </p:nvSpPr>
            <p:spPr>
              <a:xfrm>
                <a:off x="0" y="0"/>
                <a:ext cx="12506423" cy="1691244"/>
              </a:xfrm>
              <a:custGeom>
                <a:rect b="b" l="l" r="r" t="t"/>
                <a:pathLst>
                  <a:path extrusionOk="0" h="1691244" w="12506423">
                    <a:moveTo>
                      <a:pt x="0" y="0"/>
                    </a:moveTo>
                    <a:lnTo>
                      <a:pt x="12506423" y="0"/>
                    </a:lnTo>
                    <a:lnTo>
                      <a:pt x="12506423" y="1691244"/>
                    </a:lnTo>
                    <a:lnTo>
                      <a:pt x="0" y="1691244"/>
                    </a:lnTo>
                    <a:close/>
                  </a:path>
                </a:pathLst>
              </a:custGeom>
              <a:blipFill rotWithShape="1">
                <a:blip r:embed="rId5">
                  <a:alphaModFix amt="0"/>
                </a:blip>
                <a:stretch>
                  <a:fillRect b="-58428" l="0" r="24747" t="-58430"/>
                </a:stretch>
              </a:blipFill>
              <a:ln>
                <a:noFill/>
              </a:ln>
            </p:spPr>
          </p:sp>
          <p:sp>
            <p:nvSpPr>
              <p:cNvPr id="195" name="Google Shape;195;p4"/>
              <p:cNvSpPr txBox="1"/>
              <p:nvPr/>
            </p:nvSpPr>
            <p:spPr>
              <a:xfrm>
                <a:off x="0" y="0"/>
                <a:ext cx="12506419" cy="1691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Problem Statement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"/>
          <p:cNvSpPr/>
          <p:nvPr/>
        </p:nvSpPr>
        <p:spPr>
          <a:xfrm>
            <a:off x="1461776" y="4483558"/>
            <a:ext cx="276006" cy="276006"/>
          </a:xfrm>
          <a:custGeom>
            <a:rect b="b" l="l" r="r" t="t"/>
            <a:pathLst>
              <a:path extrusionOk="0" h="276006" w="276006">
                <a:moveTo>
                  <a:pt x="0" y="0"/>
                </a:moveTo>
                <a:lnTo>
                  <a:pt x="276006" y="0"/>
                </a:lnTo>
                <a:lnTo>
                  <a:pt x="276006" y="276006"/>
                </a:lnTo>
                <a:lnTo>
                  <a:pt x="0" y="276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5"/>
          <p:cNvSpPr txBox="1"/>
          <p:nvPr/>
        </p:nvSpPr>
        <p:spPr>
          <a:xfrm>
            <a:off x="1959696" y="4384994"/>
            <a:ext cx="3991832" cy="100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24/7 availability, answering common questions instantly and accurately.</a:t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1461776" y="5830508"/>
            <a:ext cx="276006" cy="276006"/>
          </a:xfrm>
          <a:custGeom>
            <a:rect b="b" l="l" r="r" t="t"/>
            <a:pathLst>
              <a:path extrusionOk="0" h="276006" w="276006">
                <a:moveTo>
                  <a:pt x="0" y="0"/>
                </a:moveTo>
                <a:lnTo>
                  <a:pt x="276006" y="0"/>
                </a:lnTo>
                <a:lnTo>
                  <a:pt x="276006" y="276006"/>
                </a:lnTo>
                <a:lnTo>
                  <a:pt x="0" y="276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5"/>
          <p:cNvSpPr txBox="1"/>
          <p:nvPr/>
        </p:nvSpPr>
        <p:spPr>
          <a:xfrm>
            <a:off x="1959696" y="5731943"/>
            <a:ext cx="5757005" cy="100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AI continuously learns from past interactions with human agents, improving response accuracy over time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1478926" y="7089443"/>
            <a:ext cx="276006" cy="276006"/>
          </a:xfrm>
          <a:custGeom>
            <a:rect b="b" l="l" r="r" t="t"/>
            <a:pathLst>
              <a:path extrusionOk="0" h="276006" w="276006">
                <a:moveTo>
                  <a:pt x="0" y="0"/>
                </a:moveTo>
                <a:lnTo>
                  <a:pt x="276006" y="0"/>
                </a:lnTo>
                <a:lnTo>
                  <a:pt x="276006" y="276006"/>
                </a:lnTo>
                <a:lnTo>
                  <a:pt x="0" y="276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5"/>
          <p:cNvSpPr txBox="1"/>
          <p:nvPr/>
        </p:nvSpPr>
        <p:spPr>
          <a:xfrm>
            <a:off x="1976845" y="6990879"/>
            <a:ext cx="3991832" cy="100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Ensuring users receive the latest and most accurate answers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1478926" y="8222494"/>
            <a:ext cx="276006" cy="276006"/>
          </a:xfrm>
          <a:custGeom>
            <a:rect b="b" l="l" r="r" t="t"/>
            <a:pathLst>
              <a:path extrusionOk="0" h="276006" w="276006">
                <a:moveTo>
                  <a:pt x="0" y="0"/>
                </a:moveTo>
                <a:lnTo>
                  <a:pt x="276006" y="0"/>
                </a:lnTo>
                <a:lnTo>
                  <a:pt x="276006" y="276006"/>
                </a:lnTo>
                <a:lnTo>
                  <a:pt x="0" y="2760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5"/>
          <p:cNvSpPr txBox="1"/>
          <p:nvPr/>
        </p:nvSpPr>
        <p:spPr>
          <a:xfrm>
            <a:off x="1976845" y="8123930"/>
            <a:ext cx="5757005" cy="675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Large volumes of customer queries handle efficiently</a:t>
            </a:r>
            <a:endParaRPr/>
          </a:p>
        </p:txBody>
      </p:sp>
      <p:sp>
        <p:nvSpPr>
          <p:cNvPr id="208" name="Google Shape;208;p5"/>
          <p:cNvSpPr/>
          <p:nvPr/>
        </p:nvSpPr>
        <p:spPr>
          <a:xfrm>
            <a:off x="10939177" y="3646374"/>
            <a:ext cx="6320123" cy="5901414"/>
          </a:xfrm>
          <a:custGeom>
            <a:rect b="b" l="l" r="r" t="t"/>
            <a:pathLst>
              <a:path extrusionOk="0" h="5901414" w="6320123">
                <a:moveTo>
                  <a:pt x="0" y="0"/>
                </a:moveTo>
                <a:lnTo>
                  <a:pt x="6320123" y="0"/>
                </a:lnTo>
                <a:lnTo>
                  <a:pt x="6320123" y="5901414"/>
                </a:lnTo>
                <a:lnTo>
                  <a:pt x="0" y="59014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9" l="0" r="0" t="-79"/>
            </a:stretch>
          </a:blipFill>
          <a:ln>
            <a:noFill/>
          </a:ln>
        </p:spPr>
      </p:sp>
      <p:grpSp>
        <p:nvGrpSpPr>
          <p:cNvPr id="209" name="Google Shape;209;p5"/>
          <p:cNvGrpSpPr/>
          <p:nvPr/>
        </p:nvGrpSpPr>
        <p:grpSpPr>
          <a:xfrm>
            <a:off x="4454093" y="1595792"/>
            <a:ext cx="9379817" cy="1321541"/>
            <a:chOff x="0" y="-70811"/>
            <a:chExt cx="12506423" cy="1762055"/>
          </a:xfrm>
        </p:grpSpPr>
        <p:grpSp>
          <p:nvGrpSpPr>
            <p:cNvPr id="210" name="Google Shape;210;p5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5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3" name="Google Shape;213;p5"/>
            <p:cNvGrpSpPr/>
            <p:nvPr/>
          </p:nvGrpSpPr>
          <p:grpSpPr>
            <a:xfrm>
              <a:off x="0" y="0"/>
              <a:ext cx="12506423" cy="1691244"/>
              <a:chOff x="0" y="0"/>
              <a:chExt cx="12506423" cy="1691244"/>
            </a:xfrm>
          </p:grpSpPr>
          <p:sp>
            <p:nvSpPr>
              <p:cNvPr id="214" name="Google Shape;214;p5"/>
              <p:cNvSpPr/>
              <p:nvPr/>
            </p:nvSpPr>
            <p:spPr>
              <a:xfrm>
                <a:off x="0" y="0"/>
                <a:ext cx="12506423" cy="1691244"/>
              </a:xfrm>
              <a:custGeom>
                <a:rect b="b" l="l" r="r" t="t"/>
                <a:pathLst>
                  <a:path extrusionOk="0" h="1691244" w="12506423">
                    <a:moveTo>
                      <a:pt x="0" y="0"/>
                    </a:moveTo>
                    <a:lnTo>
                      <a:pt x="12506423" y="0"/>
                    </a:lnTo>
                    <a:lnTo>
                      <a:pt x="12506423" y="1691244"/>
                    </a:lnTo>
                    <a:lnTo>
                      <a:pt x="0" y="1691244"/>
                    </a:lnTo>
                    <a:close/>
                  </a:path>
                </a:pathLst>
              </a:custGeom>
              <a:blipFill rotWithShape="1">
                <a:blip r:embed="rId5">
                  <a:alphaModFix amt="0"/>
                </a:blip>
                <a:stretch>
                  <a:fillRect b="-58428" l="0" r="24747" t="-58430"/>
                </a:stretch>
              </a:blipFill>
              <a:ln>
                <a:noFill/>
              </a:ln>
            </p:spPr>
          </p:sp>
          <p:sp>
            <p:nvSpPr>
              <p:cNvPr id="215" name="Google Shape;215;p5"/>
              <p:cNvSpPr txBox="1"/>
              <p:nvPr/>
            </p:nvSpPr>
            <p:spPr>
              <a:xfrm>
                <a:off x="0" y="0"/>
                <a:ext cx="12506419" cy="1691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Problem Solution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220;p6"/>
          <p:cNvGrpSpPr/>
          <p:nvPr/>
        </p:nvGrpSpPr>
        <p:grpSpPr>
          <a:xfrm>
            <a:off x="13054961" y="2636226"/>
            <a:ext cx="8421306" cy="1898982"/>
            <a:chOff x="0" y="-85725"/>
            <a:chExt cx="11625060" cy="2621420"/>
          </a:xfrm>
        </p:grpSpPr>
        <p:sp>
          <p:nvSpPr>
            <p:cNvPr id="221" name="Google Shape;221;p6"/>
            <p:cNvSpPr/>
            <p:nvPr/>
          </p:nvSpPr>
          <p:spPr>
            <a:xfrm>
              <a:off x="0" y="0"/>
              <a:ext cx="11625060" cy="2535695"/>
            </a:xfrm>
            <a:custGeom>
              <a:rect b="b" l="l" r="r" t="t"/>
              <a:pathLst>
                <a:path extrusionOk="0" h="2535695" w="11625060">
                  <a:moveTo>
                    <a:pt x="0" y="0"/>
                  </a:moveTo>
                  <a:lnTo>
                    <a:pt x="11625060" y="0"/>
                  </a:lnTo>
                  <a:lnTo>
                    <a:pt x="11625060" y="2535695"/>
                  </a:lnTo>
                  <a:lnTo>
                    <a:pt x="0" y="253569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9330" l="0" r="0" t="-39330"/>
              </a:stretch>
            </a:blipFill>
            <a:ln>
              <a:noFill/>
            </a:ln>
          </p:spPr>
        </p:sp>
        <p:sp>
          <p:nvSpPr>
            <p:cNvPr id="222" name="Google Shape;222;p6"/>
            <p:cNvSpPr txBox="1"/>
            <p:nvPr/>
          </p:nvSpPr>
          <p:spPr>
            <a:xfrm>
              <a:off x="0" y="-85725"/>
              <a:ext cx="11625059" cy="2621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345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6"/>
          <p:cNvSpPr/>
          <p:nvPr/>
        </p:nvSpPr>
        <p:spPr>
          <a:xfrm>
            <a:off x="7346102" y="6750684"/>
            <a:ext cx="6061789" cy="2939216"/>
          </a:xfrm>
          <a:custGeom>
            <a:rect b="b" l="l" r="r" t="t"/>
            <a:pathLst>
              <a:path extrusionOk="0" h="4057396" w="8367903">
                <a:moveTo>
                  <a:pt x="0" y="0"/>
                </a:moveTo>
                <a:lnTo>
                  <a:pt x="8367903" y="0"/>
                </a:lnTo>
                <a:lnTo>
                  <a:pt x="8367903" y="4057396"/>
                </a:lnTo>
                <a:lnTo>
                  <a:pt x="0" y="4057396"/>
                </a:lnTo>
                <a:close/>
              </a:path>
            </a:pathLst>
          </a:custGeom>
          <a:solidFill>
            <a:srgbClr val="FFF0A2"/>
          </a:solidFill>
          <a:ln>
            <a:noFill/>
          </a:ln>
        </p:spPr>
      </p:sp>
      <p:grpSp>
        <p:nvGrpSpPr>
          <p:cNvPr id="224" name="Google Shape;224;p6"/>
          <p:cNvGrpSpPr/>
          <p:nvPr/>
        </p:nvGrpSpPr>
        <p:grpSpPr>
          <a:xfrm>
            <a:off x="7347077" y="6883109"/>
            <a:ext cx="6061755" cy="3228317"/>
            <a:chOff x="0" y="-38100"/>
            <a:chExt cx="8367856" cy="4456481"/>
          </a:xfrm>
        </p:grpSpPr>
        <p:sp>
          <p:nvSpPr>
            <p:cNvPr id="225" name="Google Shape;225;p6"/>
            <p:cNvSpPr/>
            <p:nvPr/>
          </p:nvSpPr>
          <p:spPr>
            <a:xfrm>
              <a:off x="0" y="0"/>
              <a:ext cx="8367856" cy="4418381"/>
            </a:xfrm>
            <a:custGeom>
              <a:rect b="b" l="l" r="r" t="t"/>
              <a:pathLst>
                <a:path extrusionOk="0" h="4418381" w="8367856">
                  <a:moveTo>
                    <a:pt x="0" y="0"/>
                  </a:moveTo>
                  <a:lnTo>
                    <a:pt x="8367856" y="0"/>
                  </a:lnTo>
                  <a:lnTo>
                    <a:pt x="8367856" y="4418381"/>
                  </a:lnTo>
                  <a:lnTo>
                    <a:pt x="0" y="4418381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7745" r="-17745" t="0"/>
              </a:stretch>
            </a:blipFill>
            <a:ln>
              <a:noFill/>
            </a:ln>
          </p:spPr>
        </p:sp>
        <p:sp>
          <p:nvSpPr>
            <p:cNvPr id="226" name="Google Shape;226;p6"/>
            <p:cNvSpPr txBox="1"/>
            <p:nvPr/>
          </p:nvSpPr>
          <p:spPr>
            <a:xfrm>
              <a:off x="0" y="-38100"/>
              <a:ext cx="8367852" cy="4456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HubSpot: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In 2024, HubSpot's total revenue was $2.17 billion, up from $1.731 billion in 2023</a:t>
              </a:r>
              <a:endParaRPr/>
            </a:p>
            <a:p>
              <a:pPr indent="0" lvl="0" marL="0" marR="0" rtl="0" algn="ctr">
                <a:lnSpc>
                  <a:spcPct val="120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1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27" name="Google Shape;227;p6"/>
          <p:cNvSpPr/>
          <p:nvPr/>
        </p:nvSpPr>
        <p:spPr>
          <a:xfrm>
            <a:off x="7346102" y="3650596"/>
            <a:ext cx="6061789" cy="2939216"/>
          </a:xfrm>
          <a:custGeom>
            <a:rect b="b" l="l" r="r" t="t"/>
            <a:pathLst>
              <a:path extrusionOk="0" h="4057396" w="8367903">
                <a:moveTo>
                  <a:pt x="0" y="0"/>
                </a:moveTo>
                <a:lnTo>
                  <a:pt x="8367903" y="0"/>
                </a:lnTo>
                <a:lnTo>
                  <a:pt x="8367903" y="4057396"/>
                </a:lnTo>
                <a:lnTo>
                  <a:pt x="0" y="4057396"/>
                </a:lnTo>
                <a:close/>
              </a:path>
            </a:pathLst>
          </a:custGeom>
          <a:solidFill>
            <a:srgbClr val="FFFAEB"/>
          </a:solidFill>
          <a:ln>
            <a:noFill/>
          </a:ln>
        </p:spPr>
      </p:sp>
      <p:grpSp>
        <p:nvGrpSpPr>
          <p:cNvPr id="228" name="Google Shape;228;p6"/>
          <p:cNvGrpSpPr/>
          <p:nvPr/>
        </p:nvGrpSpPr>
        <p:grpSpPr>
          <a:xfrm>
            <a:off x="7334667" y="3789921"/>
            <a:ext cx="6061755" cy="3156051"/>
            <a:chOff x="0" y="-28575"/>
            <a:chExt cx="8367856" cy="4356722"/>
          </a:xfrm>
        </p:grpSpPr>
        <p:sp>
          <p:nvSpPr>
            <p:cNvPr id="229" name="Google Shape;229;p6"/>
            <p:cNvSpPr/>
            <p:nvPr/>
          </p:nvSpPr>
          <p:spPr>
            <a:xfrm>
              <a:off x="0" y="0"/>
              <a:ext cx="8367856" cy="4328146"/>
            </a:xfrm>
            <a:custGeom>
              <a:rect b="b" l="l" r="r" t="t"/>
              <a:pathLst>
                <a:path extrusionOk="0" h="4328146" w="8367856">
                  <a:moveTo>
                    <a:pt x="0" y="0"/>
                  </a:moveTo>
                  <a:lnTo>
                    <a:pt x="8367856" y="0"/>
                  </a:lnTo>
                  <a:lnTo>
                    <a:pt x="8367856" y="4328146"/>
                  </a:lnTo>
                  <a:lnTo>
                    <a:pt x="0" y="4328146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6362" r="-16362" t="0"/>
              </a:stretch>
            </a:blipFill>
            <a:ln>
              <a:noFill/>
            </a:ln>
          </p:spPr>
        </p:sp>
        <p:sp>
          <p:nvSpPr>
            <p:cNvPr id="230" name="Google Shape;230;p6"/>
            <p:cNvSpPr txBox="1"/>
            <p:nvPr/>
          </p:nvSpPr>
          <p:spPr>
            <a:xfrm>
              <a:off x="0" y="-28575"/>
              <a:ext cx="8367852" cy="43567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148590" lvl="2" marL="445771" marR="0" rtl="0" algn="l">
                <a:lnSpc>
                  <a:spcPct val="13994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Arial"/>
                <a:buChar char="⚬"/>
              </a:pPr>
              <a:r>
                <a:rPr b="1" i="0" lang="en-US" sz="19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Market Size: USD 7.01 billion (2024)</a:t>
              </a:r>
              <a:endParaRPr/>
            </a:p>
            <a:p>
              <a:pPr indent="-148590" lvl="2" marL="445771" marR="0" rtl="0" algn="l">
                <a:lnSpc>
                  <a:spcPct val="13994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Arial"/>
                <a:buChar char="⚬"/>
              </a:pPr>
              <a:r>
                <a:rPr b="1" i="0" lang="en-US" sz="19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Projected Market Size: USD 20.81 billion (2029)</a:t>
              </a:r>
              <a:endParaRPr/>
            </a:p>
            <a:p>
              <a:pPr indent="-148590" lvl="2" marL="445771" marR="0" rtl="0" algn="l">
                <a:lnSpc>
                  <a:spcPct val="13994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50"/>
                <a:buFont typeface="Arial"/>
                <a:buChar char="⚬"/>
              </a:pPr>
              <a:r>
                <a:rPr b="1" i="0" lang="en-US" sz="19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Compound Annual Growth Rate (CAGR): 24.32%</a:t>
              </a:r>
              <a:endParaRPr/>
            </a:p>
            <a:p>
              <a:pPr indent="-148590" lvl="2" marL="445771" marR="0" rtl="0" algn="l">
                <a:lnSpc>
                  <a:spcPct val="1399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1" name="Google Shape;231;p6"/>
          <p:cNvSpPr/>
          <p:nvPr/>
        </p:nvSpPr>
        <p:spPr>
          <a:xfrm>
            <a:off x="1028700" y="6750684"/>
            <a:ext cx="6061789" cy="2939216"/>
          </a:xfrm>
          <a:custGeom>
            <a:rect b="b" l="l" r="r" t="t"/>
            <a:pathLst>
              <a:path extrusionOk="0" h="4057396" w="8367903">
                <a:moveTo>
                  <a:pt x="0" y="0"/>
                </a:moveTo>
                <a:lnTo>
                  <a:pt x="8367903" y="0"/>
                </a:lnTo>
                <a:lnTo>
                  <a:pt x="8367903" y="4057396"/>
                </a:lnTo>
                <a:lnTo>
                  <a:pt x="0" y="4057396"/>
                </a:lnTo>
                <a:close/>
              </a:path>
            </a:pathLst>
          </a:custGeom>
          <a:solidFill>
            <a:srgbClr val="FFFAEB"/>
          </a:solidFill>
          <a:ln>
            <a:noFill/>
          </a:ln>
        </p:spPr>
      </p:sp>
      <p:grpSp>
        <p:nvGrpSpPr>
          <p:cNvPr id="232" name="Google Shape;232;p6"/>
          <p:cNvGrpSpPr/>
          <p:nvPr/>
        </p:nvGrpSpPr>
        <p:grpSpPr>
          <a:xfrm>
            <a:off x="1027175" y="6810843"/>
            <a:ext cx="6061755" cy="3300585"/>
            <a:chOff x="0" y="-47625"/>
            <a:chExt cx="8367856" cy="4556242"/>
          </a:xfrm>
        </p:grpSpPr>
        <p:sp>
          <p:nvSpPr>
            <p:cNvPr id="233" name="Google Shape;233;p6"/>
            <p:cNvSpPr/>
            <p:nvPr/>
          </p:nvSpPr>
          <p:spPr>
            <a:xfrm>
              <a:off x="0" y="0"/>
              <a:ext cx="8367856" cy="4508617"/>
            </a:xfrm>
            <a:custGeom>
              <a:rect b="b" l="l" r="r" t="t"/>
              <a:pathLst>
                <a:path extrusionOk="0" h="4508617" w="8367856">
                  <a:moveTo>
                    <a:pt x="0" y="0"/>
                  </a:moveTo>
                  <a:lnTo>
                    <a:pt x="8367856" y="0"/>
                  </a:lnTo>
                  <a:lnTo>
                    <a:pt x="8367856" y="4508617"/>
                  </a:lnTo>
                  <a:lnTo>
                    <a:pt x="0" y="4508617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9130" r="-19130" t="0"/>
              </a:stretch>
            </a:blipFill>
            <a:ln>
              <a:noFill/>
            </a:ln>
          </p:spPr>
        </p:sp>
        <p:sp>
          <p:nvSpPr>
            <p:cNvPr id="234" name="Google Shape;234;p6"/>
            <p:cNvSpPr txBox="1"/>
            <p:nvPr/>
          </p:nvSpPr>
          <p:spPr>
            <a:xfrm>
              <a:off x="0" y="-47625"/>
              <a:ext cx="8367852" cy="45562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2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Zendesk Support Suite: 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On year 2022, Zendesk reported an annual revenue of over $1.3 billion. In 2021, the revenue was $1.339 billion </a:t>
              </a:r>
              <a:endParaRPr/>
            </a:p>
            <a:p>
              <a:pPr indent="0" lvl="0" marL="0" marR="0" rtl="0" algn="ctr">
                <a:lnSpc>
                  <a:spcPct val="12046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1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5" name="Google Shape;235;p6"/>
          <p:cNvSpPr/>
          <p:nvPr/>
        </p:nvSpPr>
        <p:spPr>
          <a:xfrm>
            <a:off x="1028700" y="3650596"/>
            <a:ext cx="6061789" cy="2969668"/>
          </a:xfrm>
          <a:custGeom>
            <a:rect b="b" l="l" r="r" t="t"/>
            <a:pathLst>
              <a:path extrusionOk="0" h="4099433" w="8367903">
                <a:moveTo>
                  <a:pt x="0" y="0"/>
                </a:moveTo>
                <a:lnTo>
                  <a:pt x="8367903" y="0"/>
                </a:lnTo>
                <a:lnTo>
                  <a:pt x="8367903" y="4099433"/>
                </a:lnTo>
                <a:lnTo>
                  <a:pt x="0" y="4099433"/>
                </a:lnTo>
                <a:close/>
              </a:path>
            </a:pathLst>
          </a:custGeom>
          <a:solidFill>
            <a:srgbClr val="FFF0A2"/>
          </a:solidFill>
          <a:ln>
            <a:noFill/>
          </a:ln>
        </p:spPr>
      </p:sp>
      <p:grpSp>
        <p:nvGrpSpPr>
          <p:cNvPr id="236" name="Google Shape;236;p6"/>
          <p:cNvGrpSpPr/>
          <p:nvPr/>
        </p:nvGrpSpPr>
        <p:grpSpPr>
          <a:xfrm>
            <a:off x="1027175" y="3731151"/>
            <a:ext cx="6061755" cy="3179557"/>
            <a:chOff x="0" y="-19050"/>
            <a:chExt cx="8367856" cy="4389171"/>
          </a:xfrm>
        </p:grpSpPr>
        <p:sp>
          <p:nvSpPr>
            <p:cNvPr id="237" name="Google Shape;237;p6"/>
            <p:cNvSpPr/>
            <p:nvPr/>
          </p:nvSpPr>
          <p:spPr>
            <a:xfrm>
              <a:off x="0" y="0"/>
              <a:ext cx="8367856" cy="4370115"/>
            </a:xfrm>
            <a:custGeom>
              <a:rect b="b" l="l" r="r" t="t"/>
              <a:pathLst>
                <a:path extrusionOk="0" h="4370115" w="8367856">
                  <a:moveTo>
                    <a:pt x="0" y="0"/>
                  </a:moveTo>
                  <a:lnTo>
                    <a:pt x="8367856" y="0"/>
                  </a:lnTo>
                  <a:lnTo>
                    <a:pt x="8367856" y="4370115"/>
                  </a:lnTo>
                  <a:lnTo>
                    <a:pt x="0" y="437011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7006" r="-17006" t="0"/>
              </a:stretch>
            </a:blipFill>
            <a:ln>
              <a:noFill/>
            </a:ln>
          </p:spPr>
        </p:sp>
        <p:sp>
          <p:nvSpPr>
            <p:cNvPr id="238" name="Google Shape;238;p6"/>
            <p:cNvSpPr txBox="1"/>
            <p:nvPr/>
          </p:nvSpPr>
          <p:spPr>
            <a:xfrm>
              <a:off x="0" y="-19050"/>
              <a:ext cx="8367852" cy="43891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51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Total development: 35 lakh.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Server(1 year) : 1 lakh 80k.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Maintenance developer: AI-12 lakh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Software: 4 lakh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Marketing: 1 lakh 10k </a:t>
              </a:r>
              <a:endParaRPr/>
            </a:p>
            <a:p>
              <a:pPr indent="0" lvl="0" marL="0" marR="0" rtl="0" algn="ctr">
                <a:lnSpc>
                  <a:spcPct val="13994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950" u="none" cap="none" strike="noStrik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1st year development and maintenance: 5360000</a:t>
              </a:r>
              <a:endParaRPr/>
            </a:p>
            <a:p>
              <a:pPr indent="0" lvl="0" marL="0" marR="0" rtl="0" algn="ctr">
                <a:lnSpc>
                  <a:spcPct val="15435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19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239" name="Google Shape;239;p6"/>
          <p:cNvSpPr txBox="1"/>
          <p:nvPr/>
        </p:nvSpPr>
        <p:spPr>
          <a:xfrm>
            <a:off x="1251082" y="3762996"/>
            <a:ext cx="5616988" cy="4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Cost Analysis</a:t>
            </a:r>
            <a:endParaRPr/>
          </a:p>
        </p:txBody>
      </p:sp>
      <p:sp>
        <p:nvSpPr>
          <p:cNvPr id="240" name="Google Shape;240;p6"/>
          <p:cNvSpPr txBox="1"/>
          <p:nvPr/>
        </p:nvSpPr>
        <p:spPr>
          <a:xfrm>
            <a:off x="7557049" y="3762996"/>
            <a:ext cx="5616988" cy="4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Market of 2024</a:t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13665455" y="4016646"/>
            <a:ext cx="4391133" cy="4782419"/>
          </a:xfrm>
          <a:custGeom>
            <a:rect b="b" l="l" r="r" t="t"/>
            <a:pathLst>
              <a:path extrusionOk="0" h="4782419" w="4391133">
                <a:moveTo>
                  <a:pt x="0" y="0"/>
                </a:moveTo>
                <a:lnTo>
                  <a:pt x="4391133" y="0"/>
                </a:lnTo>
                <a:lnTo>
                  <a:pt x="4391133" y="4782418"/>
                </a:lnTo>
                <a:lnTo>
                  <a:pt x="0" y="4782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8" l="0" r="0" t="-39"/>
            </a:stretch>
          </a:blipFill>
          <a:ln>
            <a:noFill/>
          </a:ln>
        </p:spPr>
      </p:sp>
      <p:sp>
        <p:nvSpPr>
          <p:cNvPr id="242" name="Google Shape;242;p6"/>
          <p:cNvSpPr txBox="1"/>
          <p:nvPr/>
        </p:nvSpPr>
        <p:spPr>
          <a:xfrm>
            <a:off x="1252865" y="6863084"/>
            <a:ext cx="5616988" cy="4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Competitor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7568485" y="6863084"/>
            <a:ext cx="5616988" cy="45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3" u="none" cap="none" strike="noStrike">
                <a:solidFill>
                  <a:srgbClr val="EF5241"/>
                </a:solidFill>
                <a:latin typeface="DM Sans"/>
                <a:ea typeface="DM Sans"/>
                <a:cs typeface="DM Sans"/>
                <a:sym typeface="DM Sans"/>
              </a:rPr>
              <a:t>Competitor</a:t>
            </a:r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454093" y="1595792"/>
            <a:ext cx="9379817" cy="1321541"/>
            <a:chOff x="0" y="-70811"/>
            <a:chExt cx="12506423" cy="1762055"/>
          </a:xfrm>
        </p:grpSpPr>
        <p:grpSp>
          <p:nvGrpSpPr>
            <p:cNvPr id="245" name="Google Shape;245;p6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246" name="Google Shape;246;p6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6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8" name="Google Shape;248;p6"/>
            <p:cNvGrpSpPr/>
            <p:nvPr/>
          </p:nvGrpSpPr>
          <p:grpSpPr>
            <a:xfrm>
              <a:off x="0" y="0"/>
              <a:ext cx="12506423" cy="1691244"/>
              <a:chOff x="0" y="0"/>
              <a:chExt cx="12506423" cy="1691244"/>
            </a:xfrm>
          </p:grpSpPr>
          <p:sp>
            <p:nvSpPr>
              <p:cNvPr id="249" name="Google Shape;249;p6"/>
              <p:cNvSpPr/>
              <p:nvPr/>
            </p:nvSpPr>
            <p:spPr>
              <a:xfrm>
                <a:off x="0" y="0"/>
                <a:ext cx="12506423" cy="1691244"/>
              </a:xfrm>
              <a:custGeom>
                <a:rect b="b" l="l" r="r" t="t"/>
                <a:pathLst>
                  <a:path extrusionOk="0" h="1691244" w="12506423">
                    <a:moveTo>
                      <a:pt x="0" y="0"/>
                    </a:moveTo>
                    <a:lnTo>
                      <a:pt x="12506423" y="0"/>
                    </a:lnTo>
                    <a:lnTo>
                      <a:pt x="12506423" y="1691244"/>
                    </a:lnTo>
                    <a:lnTo>
                      <a:pt x="0" y="169124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58428" l="0" r="24747" t="-58430"/>
                </a:stretch>
              </a:blipFill>
              <a:ln>
                <a:noFill/>
              </a:ln>
            </p:spPr>
          </p:sp>
          <p:sp>
            <p:nvSpPr>
              <p:cNvPr id="250" name="Google Shape;250;p6"/>
              <p:cNvSpPr txBox="1"/>
              <p:nvPr/>
            </p:nvSpPr>
            <p:spPr>
              <a:xfrm>
                <a:off x="0" y="0"/>
                <a:ext cx="12506419" cy="1691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Market Analysis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Google Shape;255;p7"/>
          <p:cNvGrpSpPr/>
          <p:nvPr/>
        </p:nvGrpSpPr>
        <p:grpSpPr>
          <a:xfrm>
            <a:off x="2164807" y="2344613"/>
            <a:ext cx="13958385" cy="7331098"/>
            <a:chOff x="0" y="-138270"/>
            <a:chExt cx="18611181" cy="9774797"/>
          </a:xfrm>
        </p:grpSpPr>
        <p:sp>
          <p:nvSpPr>
            <p:cNvPr id="256" name="Google Shape;256;p7"/>
            <p:cNvSpPr/>
            <p:nvPr/>
          </p:nvSpPr>
          <p:spPr>
            <a:xfrm>
              <a:off x="0" y="659153"/>
              <a:ext cx="3470309" cy="5462809"/>
            </a:xfrm>
            <a:custGeom>
              <a:rect b="b" l="l" r="r" t="t"/>
              <a:pathLst>
                <a:path extrusionOk="0" h="6397371" w="4064000">
                  <a:moveTo>
                    <a:pt x="450088" y="0"/>
                  </a:moveTo>
                  <a:lnTo>
                    <a:pt x="3613912" y="0"/>
                  </a:lnTo>
                  <a:cubicBezTo>
                    <a:pt x="3862451" y="0"/>
                    <a:pt x="4064000" y="201549"/>
                    <a:pt x="4064000" y="450088"/>
                  </a:cubicBezTo>
                  <a:lnTo>
                    <a:pt x="4064000" y="5947283"/>
                  </a:lnTo>
                  <a:cubicBezTo>
                    <a:pt x="4064000" y="6066663"/>
                    <a:pt x="4016629" y="6181090"/>
                    <a:pt x="3932174" y="6265545"/>
                  </a:cubicBezTo>
                  <a:cubicBezTo>
                    <a:pt x="3847719" y="6350000"/>
                    <a:pt x="3733292" y="6397371"/>
                    <a:pt x="3613912" y="6397371"/>
                  </a:cubicBezTo>
                  <a:lnTo>
                    <a:pt x="450088" y="6397371"/>
                  </a:lnTo>
                  <a:cubicBezTo>
                    <a:pt x="330708" y="6397371"/>
                    <a:pt x="216281" y="6350000"/>
                    <a:pt x="131826" y="6265545"/>
                  </a:cubicBezTo>
                  <a:cubicBezTo>
                    <a:pt x="47371" y="6181090"/>
                    <a:pt x="0" y="6066663"/>
                    <a:pt x="0" y="5947283"/>
                  </a:cubicBezTo>
                  <a:lnTo>
                    <a:pt x="0" y="450088"/>
                  </a:lnTo>
                  <a:cubicBezTo>
                    <a:pt x="0" y="201549"/>
                    <a:pt x="201549" y="0"/>
                    <a:pt x="450088" y="0"/>
                  </a:cubicBezTo>
                  <a:close/>
                </a:path>
              </a:pathLst>
            </a:custGeom>
            <a:solidFill>
              <a:srgbClr val="F5D6C3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7"/>
            <p:cNvGrpSpPr/>
            <p:nvPr/>
          </p:nvGrpSpPr>
          <p:grpSpPr>
            <a:xfrm>
              <a:off x="0" y="305854"/>
              <a:ext cx="3470309" cy="5816131"/>
              <a:chOff x="0" y="-76200"/>
              <a:chExt cx="4064000" cy="6811139"/>
            </a:xfrm>
          </p:grpSpPr>
          <p:sp>
            <p:nvSpPr>
              <p:cNvPr id="258" name="Google Shape;258;p7"/>
              <p:cNvSpPr/>
              <p:nvPr/>
            </p:nvSpPr>
            <p:spPr>
              <a:xfrm>
                <a:off x="0" y="0"/>
                <a:ext cx="4064000" cy="6734939"/>
              </a:xfrm>
              <a:custGeom>
                <a:rect b="b" l="l" r="r" t="t"/>
                <a:pathLst>
                  <a:path extrusionOk="0" h="6734939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6734939"/>
                    </a:lnTo>
                    <a:lnTo>
                      <a:pt x="0" y="6734939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62621" r="-162621" t="0"/>
                </a:stretch>
              </a:blipFill>
              <a:ln>
                <a:noFill/>
              </a:ln>
            </p:spPr>
          </p:sp>
          <p:sp>
            <p:nvSpPr>
              <p:cNvPr id="259" name="Google Shape;259;p7"/>
              <p:cNvSpPr txBox="1"/>
              <p:nvPr/>
            </p:nvSpPr>
            <p:spPr>
              <a:xfrm>
                <a:off x="0" y="-76200"/>
                <a:ext cx="4064000" cy="6811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Investors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Small to medium companies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Distributors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Suppliers</a:t>
                </a:r>
                <a:endParaRPr/>
              </a:p>
            </p:txBody>
          </p:sp>
        </p:grpSp>
        <p:sp>
          <p:nvSpPr>
            <p:cNvPr id="260" name="Google Shape;260;p7"/>
            <p:cNvSpPr/>
            <p:nvPr/>
          </p:nvSpPr>
          <p:spPr>
            <a:xfrm>
              <a:off x="3785218" y="659261"/>
              <a:ext cx="3470309" cy="2602732"/>
            </a:xfrm>
            <a:custGeom>
              <a:rect b="b" l="l" r="r" t="t"/>
              <a:pathLst>
                <a:path extrusionOk="0" h="3048000" w="4064000">
                  <a:moveTo>
                    <a:pt x="450088" y="0"/>
                  </a:moveTo>
                  <a:lnTo>
                    <a:pt x="3613912" y="0"/>
                  </a:lnTo>
                  <a:cubicBezTo>
                    <a:pt x="3862451" y="0"/>
                    <a:pt x="4064000" y="201549"/>
                    <a:pt x="4064000" y="450088"/>
                  </a:cubicBezTo>
                  <a:lnTo>
                    <a:pt x="4064000" y="2597912"/>
                  </a:lnTo>
                  <a:cubicBezTo>
                    <a:pt x="4064000" y="2717292"/>
                    <a:pt x="4016629" y="2831719"/>
                    <a:pt x="3932174" y="2916174"/>
                  </a:cubicBezTo>
                  <a:cubicBezTo>
                    <a:pt x="3847719" y="3000629"/>
                    <a:pt x="3733292" y="3048000"/>
                    <a:pt x="3613912" y="3048000"/>
                  </a:cubicBezTo>
                  <a:lnTo>
                    <a:pt x="450088" y="3048000"/>
                  </a:lnTo>
                  <a:cubicBezTo>
                    <a:pt x="330708" y="3048000"/>
                    <a:pt x="216281" y="3000629"/>
                    <a:pt x="131826" y="2916174"/>
                  </a:cubicBezTo>
                  <a:cubicBezTo>
                    <a:pt x="47371" y="2831719"/>
                    <a:pt x="0" y="2717292"/>
                    <a:pt x="0" y="2597912"/>
                  </a:cubicBezTo>
                  <a:lnTo>
                    <a:pt x="0" y="450088"/>
                  </a:lnTo>
                  <a:cubicBezTo>
                    <a:pt x="0" y="201549"/>
                    <a:pt x="201549" y="0"/>
                    <a:pt x="450088" y="0"/>
                  </a:cubicBezTo>
                  <a:close/>
                </a:path>
              </a:pathLst>
            </a:custGeom>
            <a:solidFill>
              <a:srgbClr val="FFC493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1" name="Google Shape;261;p7"/>
            <p:cNvGrpSpPr/>
            <p:nvPr/>
          </p:nvGrpSpPr>
          <p:grpSpPr>
            <a:xfrm>
              <a:off x="3785218" y="305962"/>
              <a:ext cx="3470309" cy="2956032"/>
              <a:chOff x="0" y="-76200"/>
              <a:chExt cx="4064000" cy="3461742"/>
            </a:xfrm>
          </p:grpSpPr>
          <p:sp>
            <p:nvSpPr>
              <p:cNvPr id="262" name="Google Shape;262;p7"/>
              <p:cNvSpPr/>
              <p:nvPr/>
            </p:nvSpPr>
            <p:spPr>
              <a:xfrm>
                <a:off x="0" y="0"/>
                <a:ext cx="4064000" cy="3385542"/>
              </a:xfrm>
              <a:custGeom>
                <a:rect b="b" l="l" r="r" t="t"/>
                <a:pathLst>
                  <a:path extrusionOk="0" h="3385542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85542"/>
                    </a:lnTo>
                    <a:lnTo>
                      <a:pt x="0" y="3385542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56883" r="-56883" t="0"/>
                </a:stretch>
              </a:blipFill>
              <a:ln>
                <a:noFill/>
              </a:ln>
            </p:spPr>
          </p:sp>
          <p:sp>
            <p:nvSpPr>
              <p:cNvPr id="263" name="Google Shape;263;p7"/>
              <p:cNvSpPr txBox="1"/>
              <p:nvPr/>
            </p:nvSpPr>
            <p:spPr>
              <a:xfrm>
                <a:off x="0" y="-76200"/>
                <a:ext cx="4064000" cy="34617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 mining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Creating data set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Model training 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Software development </a:t>
                </a:r>
                <a:endParaRPr/>
              </a:p>
            </p:txBody>
          </p:sp>
        </p:grpSp>
        <p:sp>
          <p:nvSpPr>
            <p:cNvPr id="264" name="Google Shape;264;p7"/>
            <p:cNvSpPr/>
            <p:nvPr/>
          </p:nvSpPr>
          <p:spPr>
            <a:xfrm>
              <a:off x="7570436" y="658816"/>
              <a:ext cx="3470309" cy="5462809"/>
            </a:xfrm>
            <a:custGeom>
              <a:rect b="b" l="l" r="r" t="t"/>
              <a:pathLst>
                <a:path extrusionOk="0" h="6397371" w="4064000">
                  <a:moveTo>
                    <a:pt x="450088" y="0"/>
                  </a:moveTo>
                  <a:lnTo>
                    <a:pt x="3613912" y="0"/>
                  </a:lnTo>
                  <a:cubicBezTo>
                    <a:pt x="3862451" y="0"/>
                    <a:pt x="4064000" y="201549"/>
                    <a:pt x="4064000" y="450088"/>
                  </a:cubicBezTo>
                  <a:lnTo>
                    <a:pt x="4064000" y="5947283"/>
                  </a:lnTo>
                  <a:cubicBezTo>
                    <a:pt x="4064000" y="6066663"/>
                    <a:pt x="4016629" y="6181090"/>
                    <a:pt x="3932174" y="6265545"/>
                  </a:cubicBezTo>
                  <a:cubicBezTo>
                    <a:pt x="3847719" y="6350000"/>
                    <a:pt x="3733292" y="6397371"/>
                    <a:pt x="3613912" y="6397371"/>
                  </a:cubicBezTo>
                  <a:lnTo>
                    <a:pt x="450088" y="6397371"/>
                  </a:lnTo>
                  <a:cubicBezTo>
                    <a:pt x="330708" y="6397371"/>
                    <a:pt x="216281" y="6350000"/>
                    <a:pt x="131826" y="6265545"/>
                  </a:cubicBezTo>
                  <a:cubicBezTo>
                    <a:pt x="47371" y="6181090"/>
                    <a:pt x="0" y="6066663"/>
                    <a:pt x="0" y="5947283"/>
                  </a:cubicBezTo>
                  <a:lnTo>
                    <a:pt x="0" y="450088"/>
                  </a:lnTo>
                  <a:cubicBezTo>
                    <a:pt x="0" y="201549"/>
                    <a:pt x="201549" y="0"/>
                    <a:pt x="450088" y="0"/>
                  </a:cubicBezTo>
                  <a:close/>
                </a:path>
              </a:pathLst>
            </a:custGeom>
            <a:solidFill>
              <a:srgbClr val="FFDE83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5" name="Google Shape;265;p7"/>
            <p:cNvGrpSpPr/>
            <p:nvPr/>
          </p:nvGrpSpPr>
          <p:grpSpPr>
            <a:xfrm>
              <a:off x="7570436" y="-138270"/>
              <a:ext cx="3470309" cy="6259917"/>
              <a:chOff x="0" y="-161925"/>
              <a:chExt cx="4064000" cy="7330846"/>
            </a:xfrm>
          </p:grpSpPr>
          <p:sp>
            <p:nvSpPr>
              <p:cNvPr id="266" name="Google Shape;266;p7"/>
              <p:cNvSpPr/>
              <p:nvPr/>
            </p:nvSpPr>
            <p:spPr>
              <a:xfrm>
                <a:off x="0" y="0"/>
                <a:ext cx="4064000" cy="7168921"/>
              </a:xfrm>
              <a:custGeom>
                <a:rect b="b" l="l" r="r" t="t"/>
                <a:pathLst>
                  <a:path extrusionOk="0" h="7168921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7168921"/>
                    </a:lnTo>
                    <a:lnTo>
                      <a:pt x="0" y="7168921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76326" r="-176326" t="0"/>
                </a:stretch>
              </a:blipFill>
              <a:ln>
                <a:noFill/>
              </a:ln>
            </p:spPr>
          </p:sp>
          <p:sp>
            <p:nvSpPr>
              <p:cNvPr id="267" name="Google Shape;267;p7"/>
              <p:cNvSpPr txBox="1"/>
              <p:nvPr/>
            </p:nvSpPr>
            <p:spPr>
              <a:xfrm>
                <a:off x="0" y="-161925"/>
                <a:ext cx="4064000" cy="73308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Optimization</a:t>
                </a:r>
                <a:endParaRPr/>
              </a:p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Getting the job done</a:t>
                </a:r>
                <a:endParaRPr/>
              </a:p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Cost reducation</a:t>
                </a:r>
                <a:endParaRPr/>
              </a:p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Automation</a:t>
                </a:r>
                <a:endParaRPr/>
              </a:p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Usability</a:t>
                </a:r>
                <a:endParaRPr/>
              </a:p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Improving Decision-making</a:t>
                </a:r>
                <a:endParaRPr/>
              </a:p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Design </a:t>
                </a:r>
                <a:endParaRPr/>
              </a:p>
              <a:p>
                <a:pPr indent="-91440" lvl="2" marL="274320" marR="0" rtl="0" algn="l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Security</a:t>
                </a:r>
                <a:endParaRPr/>
              </a:p>
            </p:txBody>
          </p:sp>
        </p:grpSp>
        <p:sp>
          <p:nvSpPr>
            <p:cNvPr id="268" name="Google Shape;268;p7"/>
            <p:cNvSpPr/>
            <p:nvPr/>
          </p:nvSpPr>
          <p:spPr>
            <a:xfrm>
              <a:off x="11355654" y="658925"/>
              <a:ext cx="3470309" cy="2602732"/>
            </a:xfrm>
            <a:custGeom>
              <a:rect b="b" l="l" r="r" t="t"/>
              <a:pathLst>
                <a:path extrusionOk="0" h="3048000" w="4064000">
                  <a:moveTo>
                    <a:pt x="450088" y="0"/>
                  </a:moveTo>
                  <a:lnTo>
                    <a:pt x="3613912" y="0"/>
                  </a:lnTo>
                  <a:cubicBezTo>
                    <a:pt x="3862451" y="0"/>
                    <a:pt x="4064000" y="201549"/>
                    <a:pt x="4064000" y="450088"/>
                  </a:cubicBezTo>
                  <a:lnTo>
                    <a:pt x="4064000" y="2597912"/>
                  </a:lnTo>
                  <a:cubicBezTo>
                    <a:pt x="4064000" y="2717292"/>
                    <a:pt x="4016629" y="2831719"/>
                    <a:pt x="3932174" y="2916174"/>
                  </a:cubicBezTo>
                  <a:cubicBezTo>
                    <a:pt x="3847719" y="3000629"/>
                    <a:pt x="3733292" y="3048000"/>
                    <a:pt x="3613912" y="3048000"/>
                  </a:cubicBezTo>
                  <a:lnTo>
                    <a:pt x="450088" y="3048000"/>
                  </a:lnTo>
                  <a:cubicBezTo>
                    <a:pt x="330708" y="3048000"/>
                    <a:pt x="216281" y="3000629"/>
                    <a:pt x="131826" y="2916174"/>
                  </a:cubicBezTo>
                  <a:cubicBezTo>
                    <a:pt x="47371" y="2831719"/>
                    <a:pt x="0" y="2717292"/>
                    <a:pt x="0" y="2597912"/>
                  </a:cubicBezTo>
                  <a:lnTo>
                    <a:pt x="0" y="450088"/>
                  </a:lnTo>
                  <a:cubicBezTo>
                    <a:pt x="0" y="201549"/>
                    <a:pt x="201549" y="0"/>
                    <a:pt x="450088" y="0"/>
                  </a:cubicBezTo>
                  <a:close/>
                </a:path>
              </a:pathLst>
            </a:custGeom>
            <a:solidFill>
              <a:srgbClr val="B7E6CC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9" name="Google Shape;269;p7"/>
            <p:cNvGrpSpPr/>
            <p:nvPr/>
          </p:nvGrpSpPr>
          <p:grpSpPr>
            <a:xfrm>
              <a:off x="11355654" y="305626"/>
              <a:ext cx="3470309" cy="2956032"/>
              <a:chOff x="0" y="-76200"/>
              <a:chExt cx="4064000" cy="3461742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0" y="0"/>
                <a:ext cx="4064000" cy="3385542"/>
              </a:xfrm>
              <a:custGeom>
                <a:rect b="b" l="l" r="r" t="t"/>
                <a:pathLst>
                  <a:path extrusionOk="0" h="3385542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85542"/>
                    </a:lnTo>
                    <a:lnTo>
                      <a:pt x="0" y="3385542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56883" r="-56883" t="0"/>
                </a:stretch>
              </a:blipFill>
              <a:ln>
                <a:noFill/>
              </a:ln>
            </p:spPr>
          </p:sp>
          <p:sp>
            <p:nvSpPr>
              <p:cNvPr id="271" name="Google Shape;271;p7"/>
              <p:cNvSpPr txBox="1"/>
              <p:nvPr/>
            </p:nvSpPr>
            <p:spPr>
              <a:xfrm>
                <a:off x="0" y="-76200"/>
                <a:ext cx="4064000" cy="34617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Automated service 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Personal assistance</a:t>
                </a:r>
                <a:endParaRPr/>
              </a:p>
            </p:txBody>
          </p:sp>
        </p:grpSp>
        <p:sp>
          <p:nvSpPr>
            <p:cNvPr id="272" name="Google Shape;272;p7"/>
            <p:cNvSpPr/>
            <p:nvPr/>
          </p:nvSpPr>
          <p:spPr>
            <a:xfrm>
              <a:off x="15140872" y="659033"/>
              <a:ext cx="3470309" cy="5462809"/>
            </a:xfrm>
            <a:custGeom>
              <a:rect b="b" l="l" r="r" t="t"/>
              <a:pathLst>
                <a:path extrusionOk="0" h="6397371" w="4064000">
                  <a:moveTo>
                    <a:pt x="450088" y="0"/>
                  </a:moveTo>
                  <a:lnTo>
                    <a:pt x="3613912" y="0"/>
                  </a:lnTo>
                  <a:cubicBezTo>
                    <a:pt x="3862451" y="0"/>
                    <a:pt x="4064000" y="201549"/>
                    <a:pt x="4064000" y="450088"/>
                  </a:cubicBezTo>
                  <a:lnTo>
                    <a:pt x="4064000" y="5947283"/>
                  </a:lnTo>
                  <a:cubicBezTo>
                    <a:pt x="4064000" y="6066663"/>
                    <a:pt x="4016629" y="6181090"/>
                    <a:pt x="3932174" y="6265545"/>
                  </a:cubicBezTo>
                  <a:cubicBezTo>
                    <a:pt x="3847719" y="6350000"/>
                    <a:pt x="3733292" y="6397371"/>
                    <a:pt x="3613912" y="6397371"/>
                  </a:cubicBezTo>
                  <a:lnTo>
                    <a:pt x="450088" y="6397371"/>
                  </a:lnTo>
                  <a:cubicBezTo>
                    <a:pt x="330708" y="6397371"/>
                    <a:pt x="216281" y="6350000"/>
                    <a:pt x="131826" y="6265545"/>
                  </a:cubicBezTo>
                  <a:cubicBezTo>
                    <a:pt x="47371" y="6181090"/>
                    <a:pt x="0" y="6066663"/>
                    <a:pt x="0" y="5947283"/>
                  </a:cubicBezTo>
                  <a:lnTo>
                    <a:pt x="0" y="450088"/>
                  </a:lnTo>
                  <a:cubicBezTo>
                    <a:pt x="0" y="201549"/>
                    <a:pt x="201549" y="0"/>
                    <a:pt x="450088" y="0"/>
                  </a:cubicBezTo>
                  <a:close/>
                </a:path>
              </a:pathLst>
            </a:custGeom>
            <a:solidFill>
              <a:srgbClr val="BACFF4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3" name="Google Shape;273;p7"/>
            <p:cNvGrpSpPr/>
            <p:nvPr/>
          </p:nvGrpSpPr>
          <p:grpSpPr>
            <a:xfrm>
              <a:off x="15140872" y="305735"/>
              <a:ext cx="3470309" cy="5816131"/>
              <a:chOff x="0" y="-76200"/>
              <a:chExt cx="4064000" cy="6811139"/>
            </a:xfrm>
          </p:grpSpPr>
          <p:sp>
            <p:nvSpPr>
              <p:cNvPr id="274" name="Google Shape;274;p7"/>
              <p:cNvSpPr/>
              <p:nvPr/>
            </p:nvSpPr>
            <p:spPr>
              <a:xfrm>
                <a:off x="0" y="0"/>
                <a:ext cx="4064000" cy="6734939"/>
              </a:xfrm>
              <a:custGeom>
                <a:rect b="b" l="l" r="r" t="t"/>
                <a:pathLst>
                  <a:path extrusionOk="0" h="6734939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6734939"/>
                    </a:lnTo>
                    <a:lnTo>
                      <a:pt x="0" y="6734939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162621" r="-162621" t="0"/>
                </a:stretch>
              </a:blipFill>
              <a:ln>
                <a:noFill/>
              </a:ln>
            </p:spPr>
          </p:sp>
          <p:sp>
            <p:nvSpPr>
              <p:cNvPr id="275" name="Google Shape;275;p7"/>
              <p:cNvSpPr txBox="1"/>
              <p:nvPr/>
            </p:nvSpPr>
            <p:spPr>
              <a:xfrm>
                <a:off x="0" y="-76200"/>
                <a:ext cx="4064000" cy="6811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Multi sided platforms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Mass market 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Business customers (B2B)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Consumer end users (B2C)</a:t>
                </a:r>
                <a:endParaRPr/>
              </a:p>
            </p:txBody>
          </p:sp>
        </p:grpSp>
        <p:sp>
          <p:nvSpPr>
            <p:cNvPr id="276" name="Google Shape;276;p7"/>
            <p:cNvSpPr/>
            <p:nvPr/>
          </p:nvSpPr>
          <p:spPr>
            <a:xfrm>
              <a:off x="412" y="6414454"/>
              <a:ext cx="9163785" cy="3222073"/>
            </a:xfrm>
            <a:custGeom>
              <a:rect b="b" l="l" r="r" t="t"/>
              <a:pathLst>
                <a:path extrusionOk="0" h="3773297" w="10731500">
                  <a:moveTo>
                    <a:pt x="170434" y="0"/>
                  </a:moveTo>
                  <a:lnTo>
                    <a:pt x="10561066" y="0"/>
                  </a:lnTo>
                  <a:cubicBezTo>
                    <a:pt x="10606278" y="0"/>
                    <a:pt x="10649585" y="17907"/>
                    <a:pt x="10681589" y="49911"/>
                  </a:cubicBezTo>
                  <a:cubicBezTo>
                    <a:pt x="10713593" y="81915"/>
                    <a:pt x="10731500" y="125222"/>
                    <a:pt x="10731500" y="170434"/>
                  </a:cubicBezTo>
                  <a:lnTo>
                    <a:pt x="10731500" y="3602863"/>
                  </a:lnTo>
                  <a:cubicBezTo>
                    <a:pt x="10731500" y="3648075"/>
                    <a:pt x="10713593" y="3691382"/>
                    <a:pt x="10681589" y="3723386"/>
                  </a:cubicBezTo>
                  <a:cubicBezTo>
                    <a:pt x="10649585" y="3755390"/>
                    <a:pt x="10606278" y="3773297"/>
                    <a:pt x="10561066" y="3773297"/>
                  </a:cubicBezTo>
                  <a:lnTo>
                    <a:pt x="170434" y="3773297"/>
                  </a:lnTo>
                  <a:cubicBezTo>
                    <a:pt x="125222" y="3773297"/>
                    <a:pt x="81915" y="3755390"/>
                    <a:pt x="49911" y="3723386"/>
                  </a:cubicBezTo>
                  <a:cubicBezTo>
                    <a:pt x="17907" y="3691382"/>
                    <a:pt x="0" y="3648075"/>
                    <a:pt x="0" y="3602863"/>
                  </a:cubicBezTo>
                  <a:lnTo>
                    <a:pt x="0" y="170434"/>
                  </a:lnTo>
                  <a:cubicBezTo>
                    <a:pt x="0" y="125222"/>
                    <a:pt x="17907" y="81915"/>
                    <a:pt x="49911" y="49911"/>
                  </a:cubicBezTo>
                  <a:cubicBezTo>
                    <a:pt x="81915" y="17907"/>
                    <a:pt x="125222" y="0"/>
                    <a:pt x="170434" y="0"/>
                  </a:cubicBezTo>
                  <a:close/>
                </a:path>
              </a:pathLst>
            </a:custGeom>
            <a:solidFill>
              <a:srgbClr val="FFC2DB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p7"/>
            <p:cNvGrpSpPr/>
            <p:nvPr/>
          </p:nvGrpSpPr>
          <p:grpSpPr>
            <a:xfrm>
              <a:off x="412" y="5978801"/>
              <a:ext cx="9163785" cy="3657705"/>
              <a:chOff x="0" y="-76200"/>
              <a:chExt cx="10731500" cy="4283456"/>
            </a:xfrm>
          </p:grpSpPr>
          <p:sp>
            <p:nvSpPr>
              <p:cNvPr id="278" name="Google Shape;278;p7"/>
              <p:cNvSpPr/>
              <p:nvPr/>
            </p:nvSpPr>
            <p:spPr>
              <a:xfrm>
                <a:off x="0" y="0"/>
                <a:ext cx="10731500" cy="4207251"/>
              </a:xfrm>
              <a:custGeom>
                <a:rect b="b" l="l" r="r" t="t"/>
                <a:pathLst>
                  <a:path extrusionOk="0" h="4207251" w="10731500">
                    <a:moveTo>
                      <a:pt x="0" y="0"/>
                    </a:moveTo>
                    <a:lnTo>
                      <a:pt x="10731500" y="0"/>
                    </a:lnTo>
                    <a:lnTo>
                      <a:pt x="10731500" y="4207251"/>
                    </a:lnTo>
                    <a:lnTo>
                      <a:pt x="0" y="4207251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301" r="-301" t="0"/>
                </a:stretch>
              </a:blipFill>
              <a:ln>
                <a:noFill/>
              </a:ln>
            </p:spPr>
          </p:sp>
          <p:sp>
            <p:nvSpPr>
              <p:cNvPr id="279" name="Google Shape;279;p7"/>
              <p:cNvSpPr txBox="1"/>
              <p:nvPr/>
            </p:nvSpPr>
            <p:spPr>
              <a:xfrm>
                <a:off x="0" y="-76200"/>
                <a:ext cx="10731500" cy="42834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Human Resources 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Administrative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Marketing &amp; Sales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Product Development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Licensing</a:t>
                </a:r>
                <a:endParaRPr/>
              </a:p>
            </p:txBody>
          </p:sp>
        </p:grpSp>
        <p:sp>
          <p:nvSpPr>
            <p:cNvPr id="280" name="Google Shape;280;p7"/>
            <p:cNvSpPr/>
            <p:nvPr/>
          </p:nvSpPr>
          <p:spPr>
            <a:xfrm>
              <a:off x="9447396" y="6414454"/>
              <a:ext cx="9163785" cy="3222073"/>
            </a:xfrm>
            <a:custGeom>
              <a:rect b="b" l="l" r="r" t="t"/>
              <a:pathLst>
                <a:path extrusionOk="0" h="3773297" w="10731500">
                  <a:moveTo>
                    <a:pt x="170434" y="0"/>
                  </a:moveTo>
                  <a:lnTo>
                    <a:pt x="10561066" y="0"/>
                  </a:lnTo>
                  <a:cubicBezTo>
                    <a:pt x="10606278" y="0"/>
                    <a:pt x="10649585" y="17907"/>
                    <a:pt x="10681589" y="49911"/>
                  </a:cubicBezTo>
                  <a:cubicBezTo>
                    <a:pt x="10713593" y="81915"/>
                    <a:pt x="10731500" y="125222"/>
                    <a:pt x="10731500" y="170434"/>
                  </a:cubicBezTo>
                  <a:lnTo>
                    <a:pt x="10731500" y="3602863"/>
                  </a:lnTo>
                  <a:cubicBezTo>
                    <a:pt x="10731500" y="3648075"/>
                    <a:pt x="10713593" y="3691382"/>
                    <a:pt x="10681589" y="3723386"/>
                  </a:cubicBezTo>
                  <a:cubicBezTo>
                    <a:pt x="10649585" y="3755390"/>
                    <a:pt x="10606278" y="3773297"/>
                    <a:pt x="10561066" y="3773297"/>
                  </a:cubicBezTo>
                  <a:lnTo>
                    <a:pt x="170434" y="3773297"/>
                  </a:lnTo>
                  <a:cubicBezTo>
                    <a:pt x="125222" y="3773297"/>
                    <a:pt x="81915" y="3755390"/>
                    <a:pt x="49911" y="3723386"/>
                  </a:cubicBezTo>
                  <a:cubicBezTo>
                    <a:pt x="17907" y="3691382"/>
                    <a:pt x="0" y="3648075"/>
                    <a:pt x="0" y="3602863"/>
                  </a:cubicBezTo>
                  <a:lnTo>
                    <a:pt x="0" y="170434"/>
                  </a:lnTo>
                  <a:cubicBezTo>
                    <a:pt x="0" y="125222"/>
                    <a:pt x="17907" y="81915"/>
                    <a:pt x="49911" y="49911"/>
                  </a:cubicBezTo>
                  <a:cubicBezTo>
                    <a:pt x="81915" y="17907"/>
                    <a:pt x="125222" y="0"/>
                    <a:pt x="170434" y="0"/>
                  </a:cubicBezTo>
                  <a:close/>
                </a:path>
              </a:pathLst>
            </a:custGeom>
            <a:solidFill>
              <a:srgbClr val="E6CDF4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7"/>
            <p:cNvGrpSpPr/>
            <p:nvPr/>
          </p:nvGrpSpPr>
          <p:grpSpPr>
            <a:xfrm>
              <a:off x="9447396" y="6061155"/>
              <a:ext cx="9163785" cy="3575351"/>
              <a:chOff x="0" y="-76200"/>
              <a:chExt cx="10731500" cy="4187012"/>
            </a:xfrm>
          </p:grpSpPr>
          <p:sp>
            <p:nvSpPr>
              <p:cNvPr id="282" name="Google Shape;282;p7"/>
              <p:cNvSpPr/>
              <p:nvPr/>
            </p:nvSpPr>
            <p:spPr>
              <a:xfrm>
                <a:off x="0" y="0"/>
                <a:ext cx="10731500" cy="4110810"/>
              </a:xfrm>
              <a:custGeom>
                <a:rect b="b" l="l" r="r" t="t"/>
                <a:pathLst>
                  <a:path extrusionOk="0" h="4110810" w="10731500">
                    <a:moveTo>
                      <a:pt x="0" y="0"/>
                    </a:moveTo>
                    <a:lnTo>
                      <a:pt x="10731500" y="0"/>
                    </a:lnTo>
                    <a:lnTo>
                      <a:pt x="10731500" y="4110810"/>
                    </a:lnTo>
                    <a:lnTo>
                      <a:pt x="0" y="4110810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866" l="0" r="0" t="-866"/>
                </a:stretch>
              </a:blipFill>
              <a:ln>
                <a:noFill/>
              </a:ln>
            </p:spPr>
          </p:sp>
          <p:sp>
            <p:nvSpPr>
              <p:cNvPr id="283" name="Google Shape;283;p7"/>
              <p:cNvSpPr txBox="1"/>
              <p:nvPr/>
            </p:nvSpPr>
            <p:spPr>
              <a:xfrm>
                <a:off x="0" y="-76200"/>
                <a:ext cx="10731500" cy="41870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Startup Investments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Software as a Service (Subscription fee)</a:t>
                </a:r>
                <a:endParaRPr/>
              </a:p>
            </p:txBody>
          </p:sp>
        </p:grpSp>
        <p:sp>
          <p:nvSpPr>
            <p:cNvPr id="284" name="Google Shape;284;p7"/>
            <p:cNvSpPr txBox="1"/>
            <p:nvPr/>
          </p:nvSpPr>
          <p:spPr>
            <a:xfrm>
              <a:off x="451563" y="1005276"/>
              <a:ext cx="2509456" cy="195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Key Partners</a:t>
              </a:r>
              <a:endParaRPr/>
            </a:p>
          </p:txBody>
        </p:sp>
        <p:sp>
          <p:nvSpPr>
            <p:cNvPr id="285" name="Google Shape;285;p7"/>
            <p:cNvSpPr txBox="1"/>
            <p:nvPr/>
          </p:nvSpPr>
          <p:spPr>
            <a:xfrm>
              <a:off x="4290940" y="1005276"/>
              <a:ext cx="2542056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Key Activities</a:t>
              </a:r>
              <a:endParaRPr/>
            </a:p>
          </p:txBody>
        </p:sp>
        <p:sp>
          <p:nvSpPr>
            <p:cNvPr id="286" name="Google Shape;286;p7"/>
            <p:cNvSpPr txBox="1"/>
            <p:nvPr/>
          </p:nvSpPr>
          <p:spPr>
            <a:xfrm>
              <a:off x="8079725" y="1005276"/>
              <a:ext cx="2536514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Value Propositions</a:t>
              </a:r>
              <a:endParaRPr/>
            </a:p>
          </p:txBody>
        </p:sp>
        <p:sp>
          <p:nvSpPr>
            <p:cNvPr id="287" name="Google Shape;287;p7"/>
            <p:cNvSpPr txBox="1"/>
            <p:nvPr/>
          </p:nvSpPr>
          <p:spPr>
            <a:xfrm>
              <a:off x="11864943" y="1005276"/>
              <a:ext cx="2467346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Customer Relationship</a:t>
              </a:r>
              <a:endParaRPr/>
            </a:p>
          </p:txBody>
        </p:sp>
        <p:sp>
          <p:nvSpPr>
            <p:cNvPr id="288" name="Google Shape;288;p7"/>
            <p:cNvSpPr txBox="1"/>
            <p:nvPr/>
          </p:nvSpPr>
          <p:spPr>
            <a:xfrm>
              <a:off x="15650161" y="1005276"/>
              <a:ext cx="2497603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Customer Segments</a:t>
              </a:r>
              <a:endParaRPr/>
            </a:p>
          </p:txBody>
        </p:sp>
        <p:sp>
          <p:nvSpPr>
            <p:cNvPr id="289" name="Google Shape;289;p7"/>
            <p:cNvSpPr txBox="1"/>
            <p:nvPr/>
          </p:nvSpPr>
          <p:spPr>
            <a:xfrm>
              <a:off x="451563" y="6778276"/>
              <a:ext cx="2696126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Cost Structure</a:t>
              </a:r>
              <a:endParaRPr/>
            </a:p>
          </p:txBody>
        </p:sp>
        <p:sp>
          <p:nvSpPr>
            <p:cNvPr id="290" name="Google Shape;290;p7"/>
            <p:cNvSpPr txBox="1"/>
            <p:nvPr/>
          </p:nvSpPr>
          <p:spPr>
            <a:xfrm>
              <a:off x="10016396" y="6778276"/>
              <a:ext cx="3848974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Revenue Stream</a:t>
              </a:r>
              <a:endParaRPr/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3785218" y="3537026"/>
              <a:ext cx="3470309" cy="2602732"/>
            </a:xfrm>
            <a:custGeom>
              <a:rect b="b" l="l" r="r" t="t"/>
              <a:pathLst>
                <a:path extrusionOk="0" h="3048000" w="4064000">
                  <a:moveTo>
                    <a:pt x="450088" y="0"/>
                  </a:moveTo>
                  <a:lnTo>
                    <a:pt x="3613912" y="0"/>
                  </a:lnTo>
                  <a:cubicBezTo>
                    <a:pt x="3862451" y="0"/>
                    <a:pt x="4064000" y="201549"/>
                    <a:pt x="4064000" y="450088"/>
                  </a:cubicBezTo>
                  <a:lnTo>
                    <a:pt x="4064000" y="2597912"/>
                  </a:lnTo>
                  <a:cubicBezTo>
                    <a:pt x="4064000" y="2717292"/>
                    <a:pt x="4016629" y="2831719"/>
                    <a:pt x="3932174" y="2916174"/>
                  </a:cubicBezTo>
                  <a:cubicBezTo>
                    <a:pt x="3847719" y="3000629"/>
                    <a:pt x="3733292" y="3048000"/>
                    <a:pt x="3613912" y="3048000"/>
                  </a:cubicBezTo>
                  <a:lnTo>
                    <a:pt x="450088" y="3048000"/>
                  </a:lnTo>
                  <a:cubicBezTo>
                    <a:pt x="330708" y="3048000"/>
                    <a:pt x="216281" y="3000629"/>
                    <a:pt x="131826" y="2916174"/>
                  </a:cubicBezTo>
                  <a:cubicBezTo>
                    <a:pt x="47371" y="2831719"/>
                    <a:pt x="0" y="2717292"/>
                    <a:pt x="0" y="2597912"/>
                  </a:cubicBezTo>
                  <a:lnTo>
                    <a:pt x="0" y="450088"/>
                  </a:lnTo>
                  <a:cubicBezTo>
                    <a:pt x="0" y="201549"/>
                    <a:pt x="201549" y="0"/>
                    <a:pt x="450088" y="0"/>
                  </a:cubicBezTo>
                  <a:close/>
                </a:path>
              </a:pathLst>
            </a:custGeom>
            <a:solidFill>
              <a:srgbClr val="FFC0B7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2" name="Google Shape;292;p7"/>
            <p:cNvGrpSpPr/>
            <p:nvPr/>
          </p:nvGrpSpPr>
          <p:grpSpPr>
            <a:xfrm>
              <a:off x="3785218" y="3183727"/>
              <a:ext cx="3470309" cy="2956032"/>
              <a:chOff x="0" y="-76200"/>
              <a:chExt cx="4064000" cy="3461742"/>
            </a:xfrm>
          </p:grpSpPr>
          <p:sp>
            <p:nvSpPr>
              <p:cNvPr id="293" name="Google Shape;293;p7"/>
              <p:cNvSpPr/>
              <p:nvPr/>
            </p:nvSpPr>
            <p:spPr>
              <a:xfrm>
                <a:off x="0" y="0"/>
                <a:ext cx="4064000" cy="3385542"/>
              </a:xfrm>
              <a:custGeom>
                <a:rect b="b" l="l" r="r" t="t"/>
                <a:pathLst>
                  <a:path extrusionOk="0" h="3385542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85542"/>
                    </a:lnTo>
                    <a:lnTo>
                      <a:pt x="0" y="3385542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56883" r="-56883" t="0"/>
                </a:stretch>
              </a:blipFill>
              <a:ln>
                <a:noFill/>
              </a:ln>
            </p:spPr>
          </p:sp>
          <p:sp>
            <p:nvSpPr>
              <p:cNvPr id="294" name="Google Shape;294;p7"/>
              <p:cNvSpPr txBox="1"/>
              <p:nvPr/>
            </p:nvSpPr>
            <p:spPr>
              <a:xfrm>
                <a:off x="0" y="-76200"/>
                <a:ext cx="4064000" cy="34617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Human Resources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Algorithms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Dataset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Cloud Computing </a:t>
                </a:r>
                <a:endParaRPr/>
              </a:p>
            </p:txBody>
          </p:sp>
        </p:grpSp>
        <p:sp>
          <p:nvSpPr>
            <p:cNvPr id="295" name="Google Shape;295;p7"/>
            <p:cNvSpPr/>
            <p:nvPr/>
          </p:nvSpPr>
          <p:spPr>
            <a:xfrm>
              <a:off x="11355654" y="3536690"/>
              <a:ext cx="3470309" cy="2602732"/>
            </a:xfrm>
            <a:custGeom>
              <a:rect b="b" l="l" r="r" t="t"/>
              <a:pathLst>
                <a:path extrusionOk="0" h="3048000" w="4064000">
                  <a:moveTo>
                    <a:pt x="450088" y="0"/>
                  </a:moveTo>
                  <a:lnTo>
                    <a:pt x="3613912" y="0"/>
                  </a:lnTo>
                  <a:cubicBezTo>
                    <a:pt x="3862451" y="0"/>
                    <a:pt x="4064000" y="201549"/>
                    <a:pt x="4064000" y="450088"/>
                  </a:cubicBezTo>
                  <a:lnTo>
                    <a:pt x="4064000" y="2597912"/>
                  </a:lnTo>
                  <a:cubicBezTo>
                    <a:pt x="4064000" y="2717292"/>
                    <a:pt x="4016629" y="2831719"/>
                    <a:pt x="3932174" y="2916174"/>
                  </a:cubicBezTo>
                  <a:cubicBezTo>
                    <a:pt x="3847719" y="3000629"/>
                    <a:pt x="3733292" y="3048000"/>
                    <a:pt x="3613912" y="3048000"/>
                  </a:cubicBezTo>
                  <a:lnTo>
                    <a:pt x="450088" y="3048000"/>
                  </a:lnTo>
                  <a:cubicBezTo>
                    <a:pt x="330708" y="3048000"/>
                    <a:pt x="216281" y="3000629"/>
                    <a:pt x="131826" y="2916174"/>
                  </a:cubicBezTo>
                  <a:cubicBezTo>
                    <a:pt x="47371" y="2831719"/>
                    <a:pt x="0" y="2717292"/>
                    <a:pt x="0" y="2597912"/>
                  </a:cubicBezTo>
                  <a:lnTo>
                    <a:pt x="0" y="450088"/>
                  </a:lnTo>
                  <a:cubicBezTo>
                    <a:pt x="0" y="201549"/>
                    <a:pt x="201549" y="0"/>
                    <a:pt x="450088" y="0"/>
                  </a:cubicBezTo>
                  <a:close/>
                </a:path>
              </a:pathLst>
            </a:custGeom>
            <a:solidFill>
              <a:srgbClr val="ACE1E1">
                <a:alpha val="48627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6" name="Google Shape;296;p7"/>
            <p:cNvGrpSpPr/>
            <p:nvPr/>
          </p:nvGrpSpPr>
          <p:grpSpPr>
            <a:xfrm>
              <a:off x="11355654" y="3183391"/>
              <a:ext cx="3470309" cy="2956032"/>
              <a:chOff x="0" y="-76200"/>
              <a:chExt cx="4064000" cy="3461742"/>
            </a:xfrm>
          </p:grpSpPr>
          <p:sp>
            <p:nvSpPr>
              <p:cNvPr id="297" name="Google Shape;297;p7"/>
              <p:cNvSpPr/>
              <p:nvPr/>
            </p:nvSpPr>
            <p:spPr>
              <a:xfrm>
                <a:off x="0" y="0"/>
                <a:ext cx="4064000" cy="3385542"/>
              </a:xfrm>
              <a:custGeom>
                <a:rect b="b" l="l" r="r" t="t"/>
                <a:pathLst>
                  <a:path extrusionOk="0" h="3385542" w="4064000">
                    <a:moveTo>
                      <a:pt x="0" y="0"/>
                    </a:moveTo>
                    <a:lnTo>
                      <a:pt x="4064000" y="0"/>
                    </a:lnTo>
                    <a:lnTo>
                      <a:pt x="4064000" y="3385542"/>
                    </a:lnTo>
                    <a:lnTo>
                      <a:pt x="0" y="3385542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0" l="-56883" r="-56883" t="0"/>
                </a:stretch>
              </a:blipFill>
              <a:ln>
                <a:noFill/>
              </a:ln>
            </p:spPr>
          </p:sp>
          <p:sp>
            <p:nvSpPr>
              <p:cNvPr id="298" name="Google Shape;298;p7"/>
              <p:cNvSpPr txBox="1"/>
              <p:nvPr/>
            </p:nvSpPr>
            <p:spPr>
              <a:xfrm>
                <a:off x="0" y="-76200"/>
                <a:ext cx="4064000" cy="34617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Website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Social network 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Conference</a:t>
                </a:r>
                <a:endParaRPr/>
              </a:p>
              <a:p>
                <a:pPr indent="-91440" lvl="2" marL="274320" marR="0" rtl="0" algn="l">
                  <a:lnSpc>
                    <a:spcPct val="1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Char char="⚬"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Partner sales </a:t>
                </a:r>
                <a:endParaRPr/>
              </a:p>
            </p:txBody>
          </p:sp>
        </p:grpSp>
        <p:sp>
          <p:nvSpPr>
            <p:cNvPr id="299" name="Google Shape;299;p7"/>
            <p:cNvSpPr txBox="1"/>
            <p:nvPr/>
          </p:nvSpPr>
          <p:spPr>
            <a:xfrm>
              <a:off x="4290940" y="3883041"/>
              <a:ext cx="2542056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Key Resources</a:t>
              </a:r>
              <a:endParaRPr/>
            </a:p>
          </p:txBody>
        </p:sp>
        <p:sp>
          <p:nvSpPr>
            <p:cNvPr id="300" name="Google Shape;300;p7"/>
            <p:cNvSpPr txBox="1"/>
            <p:nvPr/>
          </p:nvSpPr>
          <p:spPr>
            <a:xfrm>
              <a:off x="11864943" y="3883041"/>
              <a:ext cx="2467346" cy="206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29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0" u="none" cap="none" strike="noStrike">
                  <a:solidFill>
                    <a:srgbClr val="301906"/>
                  </a:solidFill>
                  <a:latin typeface="Arial"/>
                  <a:ea typeface="Arial"/>
                  <a:cs typeface="Arial"/>
                  <a:sym typeface="Arial"/>
                </a:rPr>
                <a:t>Channels</a:t>
              </a:r>
              <a:endParaRPr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4454093" y="1126778"/>
            <a:ext cx="9379817" cy="1321541"/>
            <a:chOff x="0" y="-70811"/>
            <a:chExt cx="12506423" cy="1762055"/>
          </a:xfrm>
        </p:grpSpPr>
        <p:grpSp>
          <p:nvGrpSpPr>
            <p:cNvPr id="302" name="Google Shape;302;p7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303" name="Google Shape;303;p7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7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5" name="Google Shape;305;p7"/>
            <p:cNvGrpSpPr/>
            <p:nvPr/>
          </p:nvGrpSpPr>
          <p:grpSpPr>
            <a:xfrm>
              <a:off x="0" y="0"/>
              <a:ext cx="12506423" cy="1691244"/>
              <a:chOff x="0" y="0"/>
              <a:chExt cx="12506423" cy="1691244"/>
            </a:xfrm>
          </p:grpSpPr>
          <p:sp>
            <p:nvSpPr>
              <p:cNvPr id="306" name="Google Shape;306;p7"/>
              <p:cNvSpPr/>
              <p:nvPr/>
            </p:nvSpPr>
            <p:spPr>
              <a:xfrm>
                <a:off x="0" y="0"/>
                <a:ext cx="12506423" cy="1691244"/>
              </a:xfrm>
              <a:custGeom>
                <a:rect b="b" l="l" r="r" t="t"/>
                <a:pathLst>
                  <a:path extrusionOk="0" h="1691244" w="12506423">
                    <a:moveTo>
                      <a:pt x="0" y="0"/>
                    </a:moveTo>
                    <a:lnTo>
                      <a:pt x="12506423" y="0"/>
                    </a:lnTo>
                    <a:lnTo>
                      <a:pt x="12506423" y="1691244"/>
                    </a:lnTo>
                    <a:lnTo>
                      <a:pt x="0" y="169124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58428" l="0" r="24747" t="-58430"/>
                </a:stretch>
              </a:blipFill>
              <a:ln>
                <a:noFill/>
              </a:ln>
            </p:spPr>
          </p:sp>
          <p:sp>
            <p:nvSpPr>
              <p:cNvPr id="307" name="Google Shape;307;p7"/>
              <p:cNvSpPr txBox="1"/>
              <p:nvPr/>
            </p:nvSpPr>
            <p:spPr>
              <a:xfrm>
                <a:off x="0" y="0"/>
                <a:ext cx="12506419" cy="1691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Business Model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8"/>
          <p:cNvGrpSpPr/>
          <p:nvPr/>
        </p:nvGrpSpPr>
        <p:grpSpPr>
          <a:xfrm>
            <a:off x="13223560" y="1782720"/>
            <a:ext cx="6731462" cy="1609501"/>
            <a:chOff x="0" y="-66675"/>
            <a:chExt cx="8975282" cy="2146000"/>
          </a:xfrm>
        </p:grpSpPr>
        <p:sp>
          <p:nvSpPr>
            <p:cNvPr id="313" name="Google Shape;313;p8"/>
            <p:cNvSpPr/>
            <p:nvPr/>
          </p:nvSpPr>
          <p:spPr>
            <a:xfrm>
              <a:off x="0" y="0"/>
              <a:ext cx="8975282" cy="2079325"/>
            </a:xfrm>
            <a:custGeom>
              <a:rect b="b" l="l" r="r" t="t"/>
              <a:pathLst>
                <a:path extrusionOk="0" h="2079325" w="8975282">
                  <a:moveTo>
                    <a:pt x="0" y="0"/>
                  </a:moveTo>
                  <a:lnTo>
                    <a:pt x="8975282" y="0"/>
                  </a:lnTo>
                  <a:lnTo>
                    <a:pt x="8975282" y="2079325"/>
                  </a:lnTo>
                  <a:lnTo>
                    <a:pt x="0" y="2079325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34105" l="0" r="0" t="-34107"/>
              </a:stretch>
            </a:blipFill>
            <a:ln>
              <a:noFill/>
            </a:ln>
          </p:spPr>
        </p:sp>
        <p:sp>
          <p:nvSpPr>
            <p:cNvPr id="314" name="Google Shape;314;p8"/>
            <p:cNvSpPr txBox="1"/>
            <p:nvPr/>
          </p:nvSpPr>
          <p:spPr>
            <a:xfrm>
              <a:off x="0" y="-66675"/>
              <a:ext cx="8975280" cy="2145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28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8"/>
          <p:cNvSpPr/>
          <p:nvPr/>
        </p:nvSpPr>
        <p:spPr>
          <a:xfrm>
            <a:off x="1211323" y="4186857"/>
            <a:ext cx="2873893" cy="2070945"/>
          </a:xfrm>
          <a:custGeom>
            <a:rect b="b" l="l" r="r" t="t"/>
            <a:pathLst>
              <a:path extrusionOk="0" h="2070945" w="2873893">
                <a:moveTo>
                  <a:pt x="0" y="0"/>
                </a:moveTo>
                <a:lnTo>
                  <a:pt x="2873892" y="0"/>
                </a:lnTo>
                <a:lnTo>
                  <a:pt x="2873892" y="2070944"/>
                </a:lnTo>
                <a:lnTo>
                  <a:pt x="0" y="20709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6" name="Google Shape;316;p8"/>
          <p:cNvSpPr/>
          <p:nvPr/>
        </p:nvSpPr>
        <p:spPr>
          <a:xfrm>
            <a:off x="4776197" y="4224395"/>
            <a:ext cx="2552481" cy="1995878"/>
          </a:xfrm>
          <a:custGeom>
            <a:rect b="b" l="l" r="r" t="t"/>
            <a:pathLst>
              <a:path extrusionOk="0" h="1995878" w="2552481">
                <a:moveTo>
                  <a:pt x="0" y="0"/>
                </a:moveTo>
                <a:lnTo>
                  <a:pt x="2552481" y="0"/>
                </a:lnTo>
                <a:lnTo>
                  <a:pt x="2552481" y="1995878"/>
                </a:lnTo>
                <a:lnTo>
                  <a:pt x="0" y="199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17" name="Google Shape;317;p8"/>
          <p:cNvCxnSpPr/>
          <p:nvPr/>
        </p:nvCxnSpPr>
        <p:spPr>
          <a:xfrm rot="168840">
            <a:off x="4042648" y="5231092"/>
            <a:ext cx="776116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8" name="Google Shape;318;p8"/>
          <p:cNvSpPr/>
          <p:nvPr/>
        </p:nvSpPr>
        <p:spPr>
          <a:xfrm>
            <a:off x="5685520" y="3854472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5" y="0"/>
                </a:lnTo>
                <a:lnTo>
                  <a:pt x="733835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9" name="Google Shape;319;p8"/>
          <p:cNvSpPr/>
          <p:nvPr/>
        </p:nvSpPr>
        <p:spPr>
          <a:xfrm>
            <a:off x="8016002" y="4224395"/>
            <a:ext cx="2552481" cy="1995878"/>
          </a:xfrm>
          <a:custGeom>
            <a:rect b="b" l="l" r="r" t="t"/>
            <a:pathLst>
              <a:path extrusionOk="0" h="1995878" w="2552481">
                <a:moveTo>
                  <a:pt x="0" y="0"/>
                </a:moveTo>
                <a:lnTo>
                  <a:pt x="2552481" y="0"/>
                </a:lnTo>
                <a:lnTo>
                  <a:pt x="2552481" y="1995878"/>
                </a:lnTo>
                <a:lnTo>
                  <a:pt x="0" y="199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0" name="Google Shape;320;p8"/>
          <p:cNvCxnSpPr/>
          <p:nvPr/>
        </p:nvCxnSpPr>
        <p:spPr>
          <a:xfrm rot="169620">
            <a:off x="7286111" y="5231092"/>
            <a:ext cx="772468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1" name="Google Shape;321;p8"/>
          <p:cNvSpPr/>
          <p:nvPr/>
        </p:nvSpPr>
        <p:spPr>
          <a:xfrm>
            <a:off x="8925325" y="3854472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5" y="0"/>
                </a:lnTo>
                <a:lnTo>
                  <a:pt x="733835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2" name="Google Shape;322;p8"/>
          <p:cNvSpPr/>
          <p:nvPr/>
        </p:nvSpPr>
        <p:spPr>
          <a:xfrm>
            <a:off x="9098737" y="3989013"/>
            <a:ext cx="387020" cy="442532"/>
          </a:xfrm>
          <a:custGeom>
            <a:rect b="b" l="l" r="r" t="t"/>
            <a:pathLst>
              <a:path extrusionOk="0" h="442532" w="387020">
                <a:moveTo>
                  <a:pt x="0" y="0"/>
                </a:moveTo>
                <a:lnTo>
                  <a:pt x="387020" y="0"/>
                </a:lnTo>
                <a:lnTo>
                  <a:pt x="387020" y="442531"/>
                </a:lnTo>
                <a:lnTo>
                  <a:pt x="0" y="4425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090" r="-1090" t="0"/>
            </a:stretch>
          </a:blipFill>
          <a:ln>
            <a:noFill/>
          </a:ln>
        </p:spPr>
      </p:sp>
      <p:sp>
        <p:nvSpPr>
          <p:cNvPr id="323" name="Google Shape;323;p8"/>
          <p:cNvSpPr/>
          <p:nvPr/>
        </p:nvSpPr>
        <p:spPr>
          <a:xfrm>
            <a:off x="11284391" y="4224395"/>
            <a:ext cx="2552481" cy="1995878"/>
          </a:xfrm>
          <a:custGeom>
            <a:rect b="b" l="l" r="r" t="t"/>
            <a:pathLst>
              <a:path extrusionOk="0" h="1995878" w="2552481">
                <a:moveTo>
                  <a:pt x="0" y="0"/>
                </a:moveTo>
                <a:lnTo>
                  <a:pt x="2552481" y="0"/>
                </a:lnTo>
                <a:lnTo>
                  <a:pt x="2552481" y="1995878"/>
                </a:lnTo>
                <a:lnTo>
                  <a:pt x="0" y="199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4" name="Google Shape;324;p8"/>
          <p:cNvCxnSpPr/>
          <p:nvPr/>
        </p:nvCxnSpPr>
        <p:spPr>
          <a:xfrm rot="163560">
            <a:off x="10525935" y="5231092"/>
            <a:ext cx="801005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5" name="Google Shape;325;p8"/>
          <p:cNvSpPr/>
          <p:nvPr/>
        </p:nvSpPr>
        <p:spPr>
          <a:xfrm>
            <a:off x="12193705" y="3891134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5" y="0"/>
                </a:lnTo>
                <a:lnTo>
                  <a:pt x="733835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8"/>
          <p:cNvSpPr/>
          <p:nvPr/>
        </p:nvSpPr>
        <p:spPr>
          <a:xfrm>
            <a:off x="14524196" y="4224395"/>
            <a:ext cx="2552481" cy="1995878"/>
          </a:xfrm>
          <a:custGeom>
            <a:rect b="b" l="l" r="r" t="t"/>
            <a:pathLst>
              <a:path extrusionOk="0" h="1995878" w="2552481">
                <a:moveTo>
                  <a:pt x="0" y="0"/>
                </a:moveTo>
                <a:lnTo>
                  <a:pt x="2552481" y="0"/>
                </a:lnTo>
                <a:lnTo>
                  <a:pt x="2552481" y="1995878"/>
                </a:lnTo>
                <a:lnTo>
                  <a:pt x="0" y="199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27" name="Google Shape;327;p8"/>
          <p:cNvCxnSpPr/>
          <p:nvPr/>
        </p:nvCxnSpPr>
        <p:spPr>
          <a:xfrm rot="169620">
            <a:off x="13794296" y="5231092"/>
            <a:ext cx="772468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8" name="Google Shape;328;p8"/>
          <p:cNvSpPr/>
          <p:nvPr/>
        </p:nvSpPr>
        <p:spPr>
          <a:xfrm>
            <a:off x="15461647" y="3889086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4" y="0"/>
                </a:lnTo>
                <a:lnTo>
                  <a:pt x="733834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9" name="Google Shape;329;p8"/>
          <p:cNvSpPr/>
          <p:nvPr/>
        </p:nvSpPr>
        <p:spPr>
          <a:xfrm>
            <a:off x="15639983" y="4021788"/>
            <a:ext cx="456505" cy="468430"/>
          </a:xfrm>
          <a:custGeom>
            <a:rect b="b" l="l" r="r" t="t"/>
            <a:pathLst>
              <a:path extrusionOk="0" h="468430" w="456505">
                <a:moveTo>
                  <a:pt x="0" y="0"/>
                </a:moveTo>
                <a:lnTo>
                  <a:pt x="456505" y="0"/>
                </a:lnTo>
                <a:lnTo>
                  <a:pt x="456505" y="468430"/>
                </a:lnTo>
                <a:lnTo>
                  <a:pt x="0" y="4684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756" l="0" r="0" t="-758"/>
            </a:stretch>
          </a:blipFill>
          <a:ln>
            <a:noFill/>
          </a:ln>
        </p:spPr>
      </p:sp>
      <p:sp>
        <p:nvSpPr>
          <p:cNvPr id="330" name="Google Shape;330;p8"/>
          <p:cNvSpPr txBox="1"/>
          <p:nvPr/>
        </p:nvSpPr>
        <p:spPr>
          <a:xfrm>
            <a:off x="1582102" y="4572000"/>
            <a:ext cx="1980276" cy="13741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Research and Analysis</a:t>
            </a:r>
            <a:endParaRPr/>
          </a:p>
        </p:txBody>
      </p:sp>
      <p:sp>
        <p:nvSpPr>
          <p:cNvPr id="331" name="Google Shape;331;p8"/>
          <p:cNvSpPr txBox="1"/>
          <p:nvPr/>
        </p:nvSpPr>
        <p:spPr>
          <a:xfrm>
            <a:off x="4884972" y="4527671"/>
            <a:ext cx="2249205" cy="1369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1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Develop</a:t>
            </a:r>
            <a:endParaRPr/>
          </a:p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1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 AI Technology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2236603" y="3829593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5" y="0"/>
                </a:lnTo>
                <a:lnTo>
                  <a:pt x="733835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8"/>
          <p:cNvSpPr/>
          <p:nvPr/>
        </p:nvSpPr>
        <p:spPr>
          <a:xfrm>
            <a:off x="2361914" y="3963810"/>
            <a:ext cx="429016" cy="465401"/>
          </a:xfrm>
          <a:custGeom>
            <a:rect b="b" l="l" r="r" t="t"/>
            <a:pathLst>
              <a:path extrusionOk="0" h="465401" w="429016">
                <a:moveTo>
                  <a:pt x="0" y="0"/>
                </a:moveTo>
                <a:lnTo>
                  <a:pt x="429016" y="0"/>
                </a:lnTo>
                <a:lnTo>
                  <a:pt x="429016" y="465401"/>
                </a:lnTo>
                <a:lnTo>
                  <a:pt x="0" y="4654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-919" r="-921" t="0"/>
            </a:stretch>
          </a:blipFill>
          <a:ln>
            <a:noFill/>
          </a:ln>
        </p:spPr>
      </p:sp>
      <p:sp>
        <p:nvSpPr>
          <p:cNvPr id="334" name="Google Shape;334;p8"/>
          <p:cNvSpPr txBox="1"/>
          <p:nvPr/>
        </p:nvSpPr>
        <p:spPr>
          <a:xfrm>
            <a:off x="8124777" y="4643399"/>
            <a:ext cx="2328243" cy="1254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6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Develop</a:t>
            </a:r>
            <a:endParaRPr/>
          </a:p>
          <a:p>
            <a:pPr indent="0" lvl="0" marL="0" marR="0" rtl="0" algn="ctr">
              <a:lnSpc>
                <a:spcPct val="13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6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 user friendly interface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5820604" y="3961686"/>
            <a:ext cx="463667" cy="469649"/>
          </a:xfrm>
          <a:custGeom>
            <a:rect b="b" l="l" r="r" t="t"/>
            <a:pathLst>
              <a:path extrusionOk="0" h="469649" w="463667">
                <a:moveTo>
                  <a:pt x="0" y="0"/>
                </a:moveTo>
                <a:lnTo>
                  <a:pt x="463667" y="0"/>
                </a:lnTo>
                <a:lnTo>
                  <a:pt x="463667" y="469649"/>
                </a:lnTo>
                <a:lnTo>
                  <a:pt x="0" y="4696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371" l="0" r="0" t="-371"/>
            </a:stretch>
          </a:blipFill>
          <a:ln>
            <a:noFill/>
          </a:ln>
        </p:spPr>
      </p:sp>
      <p:sp>
        <p:nvSpPr>
          <p:cNvPr id="336" name="Google Shape;336;p8"/>
          <p:cNvSpPr/>
          <p:nvPr/>
        </p:nvSpPr>
        <p:spPr>
          <a:xfrm>
            <a:off x="6777104" y="6665881"/>
            <a:ext cx="2552481" cy="1995878"/>
          </a:xfrm>
          <a:custGeom>
            <a:rect b="b" l="l" r="r" t="t"/>
            <a:pathLst>
              <a:path extrusionOk="0" h="1995878" w="2552481">
                <a:moveTo>
                  <a:pt x="0" y="0"/>
                </a:moveTo>
                <a:lnTo>
                  <a:pt x="2552481" y="0"/>
                </a:lnTo>
                <a:lnTo>
                  <a:pt x="2552481" y="1995878"/>
                </a:lnTo>
                <a:lnTo>
                  <a:pt x="0" y="199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37" name="Google Shape;337;p8"/>
          <p:cNvCxnSpPr/>
          <p:nvPr/>
        </p:nvCxnSpPr>
        <p:spPr>
          <a:xfrm rot="163560">
            <a:off x="6018647" y="7672578"/>
            <a:ext cx="801005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8" name="Google Shape;338;p8"/>
          <p:cNvSpPr/>
          <p:nvPr/>
        </p:nvSpPr>
        <p:spPr>
          <a:xfrm>
            <a:off x="7686418" y="6332620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4" y="0"/>
                </a:lnTo>
                <a:lnTo>
                  <a:pt x="733834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8"/>
          <p:cNvSpPr/>
          <p:nvPr/>
        </p:nvSpPr>
        <p:spPr>
          <a:xfrm>
            <a:off x="10016909" y="6665881"/>
            <a:ext cx="2552481" cy="1995878"/>
          </a:xfrm>
          <a:custGeom>
            <a:rect b="b" l="l" r="r" t="t"/>
            <a:pathLst>
              <a:path extrusionOk="0" h="1995878" w="2552481">
                <a:moveTo>
                  <a:pt x="0" y="0"/>
                </a:moveTo>
                <a:lnTo>
                  <a:pt x="2552481" y="0"/>
                </a:lnTo>
                <a:lnTo>
                  <a:pt x="2552481" y="1995878"/>
                </a:lnTo>
                <a:lnTo>
                  <a:pt x="0" y="1995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0" name="Google Shape;340;p8"/>
          <p:cNvCxnSpPr/>
          <p:nvPr/>
        </p:nvCxnSpPr>
        <p:spPr>
          <a:xfrm rot="169620">
            <a:off x="9287008" y="7672578"/>
            <a:ext cx="772468" cy="0"/>
          </a:xfrm>
          <a:prstGeom prst="straightConnector1">
            <a:avLst/>
          </a:prstGeom>
          <a:noFill/>
          <a:ln cap="rnd" cmpd="sng" w="2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1" name="Google Shape;341;p8"/>
          <p:cNvSpPr/>
          <p:nvPr/>
        </p:nvSpPr>
        <p:spPr>
          <a:xfrm>
            <a:off x="10954360" y="6330572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4" y="0"/>
                </a:lnTo>
                <a:lnTo>
                  <a:pt x="733834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2" name="Google Shape;342;p8"/>
          <p:cNvSpPr txBox="1"/>
          <p:nvPr/>
        </p:nvSpPr>
        <p:spPr>
          <a:xfrm>
            <a:off x="6874926" y="7276005"/>
            <a:ext cx="2328243" cy="84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6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Hire support analytics</a:t>
            </a:r>
            <a:endParaRPr/>
          </a:p>
        </p:txBody>
      </p:sp>
      <p:sp>
        <p:nvSpPr>
          <p:cNvPr id="343" name="Google Shape;343;p8"/>
          <p:cNvSpPr txBox="1"/>
          <p:nvPr/>
        </p:nvSpPr>
        <p:spPr>
          <a:xfrm>
            <a:off x="11478882" y="4691977"/>
            <a:ext cx="2328243" cy="1254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6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Partner and Investor Select</a:t>
            </a:r>
            <a:endParaRPr/>
          </a:p>
        </p:txBody>
      </p:sp>
      <p:sp>
        <p:nvSpPr>
          <p:cNvPr id="344" name="Google Shape;344;p8"/>
          <p:cNvSpPr txBox="1"/>
          <p:nvPr/>
        </p:nvSpPr>
        <p:spPr>
          <a:xfrm>
            <a:off x="14556772" y="4785570"/>
            <a:ext cx="2328243" cy="843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6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Investment setup</a:t>
            </a:r>
            <a:endParaRPr/>
          </a:p>
        </p:txBody>
      </p:sp>
      <p:sp>
        <p:nvSpPr>
          <p:cNvPr id="345" name="Google Shape;345;p8"/>
          <p:cNvSpPr txBox="1"/>
          <p:nvPr/>
        </p:nvSpPr>
        <p:spPr>
          <a:xfrm>
            <a:off x="10116160" y="7216807"/>
            <a:ext cx="2328243" cy="1254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76" u="none" cap="none" strike="noStrike">
                <a:solidFill>
                  <a:srgbClr val="11100E"/>
                </a:solidFill>
                <a:latin typeface="DM Sans"/>
                <a:ea typeface="DM Sans"/>
                <a:cs typeface="DM Sans"/>
                <a:sym typeface="DM Sans"/>
              </a:rPr>
              <a:t>Hire marketing team</a:t>
            </a:r>
            <a:endParaRPr/>
          </a:p>
        </p:txBody>
      </p:sp>
      <p:sp>
        <p:nvSpPr>
          <p:cNvPr id="346" name="Google Shape;346;p8"/>
          <p:cNvSpPr/>
          <p:nvPr/>
        </p:nvSpPr>
        <p:spPr>
          <a:xfrm>
            <a:off x="7762932" y="6453016"/>
            <a:ext cx="580815" cy="488937"/>
          </a:xfrm>
          <a:custGeom>
            <a:rect b="b" l="l" r="r" t="t"/>
            <a:pathLst>
              <a:path extrusionOk="0" h="488937" w="580815">
                <a:moveTo>
                  <a:pt x="0" y="0"/>
                </a:moveTo>
                <a:lnTo>
                  <a:pt x="580816" y="0"/>
                </a:lnTo>
                <a:lnTo>
                  <a:pt x="580816" y="488937"/>
                </a:lnTo>
                <a:lnTo>
                  <a:pt x="0" y="48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633" l="0" r="0" t="-631"/>
            </a:stretch>
          </a:blipFill>
          <a:ln>
            <a:noFill/>
          </a:ln>
        </p:spPr>
      </p:sp>
      <p:sp>
        <p:nvSpPr>
          <p:cNvPr id="347" name="Google Shape;347;p8"/>
          <p:cNvSpPr/>
          <p:nvPr/>
        </p:nvSpPr>
        <p:spPr>
          <a:xfrm>
            <a:off x="10926232" y="6330572"/>
            <a:ext cx="733835" cy="733835"/>
          </a:xfrm>
          <a:custGeom>
            <a:rect b="b" l="l" r="r" t="t"/>
            <a:pathLst>
              <a:path extrusionOk="0" h="733835" w="733835">
                <a:moveTo>
                  <a:pt x="0" y="0"/>
                </a:moveTo>
                <a:lnTo>
                  <a:pt x="733835" y="0"/>
                </a:lnTo>
                <a:lnTo>
                  <a:pt x="733835" y="733835"/>
                </a:lnTo>
                <a:lnTo>
                  <a:pt x="0" y="73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8" name="Google Shape;348;p8"/>
          <p:cNvSpPr/>
          <p:nvPr/>
        </p:nvSpPr>
        <p:spPr>
          <a:xfrm>
            <a:off x="11002737" y="6450968"/>
            <a:ext cx="580815" cy="488937"/>
          </a:xfrm>
          <a:custGeom>
            <a:rect b="b" l="l" r="r" t="t"/>
            <a:pathLst>
              <a:path extrusionOk="0" h="488937" w="580815">
                <a:moveTo>
                  <a:pt x="0" y="0"/>
                </a:moveTo>
                <a:lnTo>
                  <a:pt x="580816" y="0"/>
                </a:lnTo>
                <a:lnTo>
                  <a:pt x="580816" y="488937"/>
                </a:lnTo>
                <a:lnTo>
                  <a:pt x="0" y="4889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-633" l="0" r="0" t="-631"/>
            </a:stretch>
          </a:blipFill>
          <a:ln>
            <a:noFill/>
          </a:ln>
        </p:spPr>
      </p:sp>
      <p:sp>
        <p:nvSpPr>
          <p:cNvPr id="349" name="Google Shape;349;p8"/>
          <p:cNvSpPr/>
          <p:nvPr/>
        </p:nvSpPr>
        <p:spPr>
          <a:xfrm>
            <a:off x="12316558" y="4002091"/>
            <a:ext cx="488128" cy="488128"/>
          </a:xfrm>
          <a:custGeom>
            <a:rect b="b" l="l" r="r" t="t"/>
            <a:pathLst>
              <a:path extrusionOk="0" h="488128" w="488128">
                <a:moveTo>
                  <a:pt x="0" y="0"/>
                </a:moveTo>
                <a:lnTo>
                  <a:pt x="488128" y="0"/>
                </a:lnTo>
                <a:lnTo>
                  <a:pt x="488128" y="488127"/>
                </a:lnTo>
                <a:lnTo>
                  <a:pt x="0" y="4881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0" name="Google Shape;350;p8"/>
          <p:cNvGrpSpPr/>
          <p:nvPr/>
        </p:nvGrpSpPr>
        <p:grpSpPr>
          <a:xfrm>
            <a:off x="4454093" y="1126778"/>
            <a:ext cx="9379817" cy="1321541"/>
            <a:chOff x="0" y="-70811"/>
            <a:chExt cx="12506423" cy="1762055"/>
          </a:xfrm>
        </p:grpSpPr>
        <p:grpSp>
          <p:nvGrpSpPr>
            <p:cNvPr id="351" name="Google Shape;351;p8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352" name="Google Shape;352;p8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8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" name="Google Shape;354;p8"/>
            <p:cNvGrpSpPr/>
            <p:nvPr/>
          </p:nvGrpSpPr>
          <p:grpSpPr>
            <a:xfrm>
              <a:off x="0" y="0"/>
              <a:ext cx="12506423" cy="1691244"/>
              <a:chOff x="0" y="0"/>
              <a:chExt cx="12506423" cy="1691244"/>
            </a:xfrm>
          </p:grpSpPr>
          <p:sp>
            <p:nvSpPr>
              <p:cNvPr id="355" name="Google Shape;355;p8"/>
              <p:cNvSpPr/>
              <p:nvPr/>
            </p:nvSpPr>
            <p:spPr>
              <a:xfrm>
                <a:off x="0" y="0"/>
                <a:ext cx="12506423" cy="1691244"/>
              </a:xfrm>
              <a:custGeom>
                <a:rect b="b" l="l" r="r" t="t"/>
                <a:pathLst>
                  <a:path extrusionOk="0" h="1691244" w="12506423">
                    <a:moveTo>
                      <a:pt x="0" y="0"/>
                    </a:moveTo>
                    <a:lnTo>
                      <a:pt x="12506423" y="0"/>
                    </a:lnTo>
                    <a:lnTo>
                      <a:pt x="12506423" y="1691244"/>
                    </a:lnTo>
                    <a:lnTo>
                      <a:pt x="0" y="1691244"/>
                    </a:lnTo>
                    <a:close/>
                  </a:path>
                </a:pathLst>
              </a:custGeom>
              <a:blipFill rotWithShape="1">
                <a:blip r:embed="rId3">
                  <a:alphaModFix amt="0"/>
                </a:blip>
                <a:stretch>
                  <a:fillRect b="-58428" l="0" r="24747" t="-58430"/>
                </a:stretch>
              </a:blipFill>
              <a:ln>
                <a:noFill/>
              </a:ln>
            </p:spPr>
          </p:sp>
          <p:sp>
            <p:nvSpPr>
              <p:cNvPr id="356" name="Google Shape;356;p8"/>
              <p:cNvSpPr txBox="1"/>
              <p:nvPr/>
            </p:nvSpPr>
            <p:spPr>
              <a:xfrm>
                <a:off x="0" y="0"/>
                <a:ext cx="12506419" cy="1691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Start-up Plan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9"/>
          <p:cNvSpPr/>
          <p:nvPr/>
        </p:nvSpPr>
        <p:spPr>
          <a:xfrm>
            <a:off x="15706477" y="2151326"/>
            <a:ext cx="1827086" cy="1827086"/>
          </a:xfrm>
          <a:custGeom>
            <a:rect b="b" l="l" r="r" t="t"/>
            <a:pathLst>
              <a:path extrusionOk="0" h="2436114" w="2436114">
                <a:moveTo>
                  <a:pt x="0" y="0"/>
                </a:moveTo>
                <a:lnTo>
                  <a:pt x="2436114" y="0"/>
                </a:lnTo>
                <a:lnTo>
                  <a:pt x="2436114" y="2436114"/>
                </a:lnTo>
                <a:lnTo>
                  <a:pt x="0" y="24361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" l="0" r="-1" t="0"/>
            </a:stretch>
          </a:blipFill>
          <a:ln>
            <a:noFill/>
          </a:ln>
        </p:spPr>
      </p:sp>
      <p:sp>
        <p:nvSpPr>
          <p:cNvPr id="362" name="Google Shape;362;p9"/>
          <p:cNvSpPr/>
          <p:nvPr/>
        </p:nvSpPr>
        <p:spPr>
          <a:xfrm>
            <a:off x="13180333" y="2920174"/>
            <a:ext cx="1736408" cy="1736408"/>
          </a:xfrm>
          <a:custGeom>
            <a:rect b="b" l="l" r="r" t="t"/>
            <a:pathLst>
              <a:path extrusionOk="0" h="2315210" w="2315210">
                <a:moveTo>
                  <a:pt x="0" y="0"/>
                </a:moveTo>
                <a:lnTo>
                  <a:pt x="2315210" y="0"/>
                </a:lnTo>
                <a:lnTo>
                  <a:pt x="2315210" y="2315210"/>
                </a:lnTo>
                <a:lnTo>
                  <a:pt x="0" y="23152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9"/>
          <p:cNvSpPr/>
          <p:nvPr/>
        </p:nvSpPr>
        <p:spPr>
          <a:xfrm>
            <a:off x="10606002" y="3698958"/>
            <a:ext cx="1653064" cy="1653064"/>
          </a:xfrm>
          <a:custGeom>
            <a:rect b="b" l="l" r="r" t="t"/>
            <a:pathLst>
              <a:path extrusionOk="0" h="2204085" w="2204085">
                <a:moveTo>
                  <a:pt x="0" y="0"/>
                </a:moveTo>
                <a:lnTo>
                  <a:pt x="2204085" y="0"/>
                </a:lnTo>
                <a:lnTo>
                  <a:pt x="2204085" y="2204085"/>
                </a:lnTo>
                <a:lnTo>
                  <a:pt x="0" y="2204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" l="0" r="-2" t="0"/>
            </a:stretch>
          </a:blipFill>
          <a:ln>
            <a:noFill/>
          </a:ln>
        </p:spPr>
      </p:sp>
      <p:sp>
        <p:nvSpPr>
          <p:cNvPr id="364" name="Google Shape;364;p9"/>
          <p:cNvSpPr/>
          <p:nvPr/>
        </p:nvSpPr>
        <p:spPr>
          <a:xfrm rot="5400000">
            <a:off x="12878105" y="6657270"/>
            <a:ext cx="7894444" cy="2483158"/>
          </a:xfrm>
          <a:custGeom>
            <a:rect b="b" l="l" r="r" t="t"/>
            <a:pathLst>
              <a:path extrusionOk="0" h="2483158" w="7894444">
                <a:moveTo>
                  <a:pt x="0" y="0"/>
                </a:moveTo>
                <a:lnTo>
                  <a:pt x="7894444" y="0"/>
                </a:lnTo>
                <a:lnTo>
                  <a:pt x="7894444" y="2483158"/>
                </a:lnTo>
                <a:lnTo>
                  <a:pt x="0" y="2483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29" l="0" r="0" t="-429"/>
            </a:stretch>
          </a:blipFill>
          <a:ln>
            <a:noFill/>
          </a:ln>
        </p:spPr>
      </p:sp>
      <p:sp>
        <p:nvSpPr>
          <p:cNvPr id="365" name="Google Shape;365;p9"/>
          <p:cNvSpPr/>
          <p:nvPr/>
        </p:nvSpPr>
        <p:spPr>
          <a:xfrm rot="5400000">
            <a:off x="10260178" y="7373655"/>
            <a:ext cx="7903931" cy="2486139"/>
          </a:xfrm>
          <a:custGeom>
            <a:rect b="b" l="l" r="r" t="t"/>
            <a:pathLst>
              <a:path extrusionOk="0" h="2486139" w="7903931">
                <a:moveTo>
                  <a:pt x="0" y="0"/>
                </a:moveTo>
                <a:lnTo>
                  <a:pt x="7903930" y="0"/>
                </a:lnTo>
                <a:lnTo>
                  <a:pt x="7903930" y="2486139"/>
                </a:lnTo>
                <a:lnTo>
                  <a:pt x="0" y="2486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60" l="0" r="0" t="-560"/>
            </a:stretch>
          </a:blipFill>
          <a:ln>
            <a:noFill/>
          </a:ln>
        </p:spPr>
      </p:sp>
      <p:sp>
        <p:nvSpPr>
          <p:cNvPr id="366" name="Google Shape;366;p9"/>
          <p:cNvSpPr/>
          <p:nvPr/>
        </p:nvSpPr>
        <p:spPr>
          <a:xfrm rot="5400000">
            <a:off x="7650213" y="8015230"/>
            <a:ext cx="7903931" cy="2486139"/>
          </a:xfrm>
          <a:custGeom>
            <a:rect b="b" l="l" r="r" t="t"/>
            <a:pathLst>
              <a:path extrusionOk="0" h="2486139" w="7903931">
                <a:moveTo>
                  <a:pt x="0" y="0"/>
                </a:moveTo>
                <a:lnTo>
                  <a:pt x="7903931" y="0"/>
                </a:lnTo>
                <a:lnTo>
                  <a:pt x="7903931" y="2486140"/>
                </a:lnTo>
                <a:lnTo>
                  <a:pt x="0" y="248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560" l="0" r="0" t="-560"/>
            </a:stretch>
          </a:blipFill>
          <a:ln>
            <a:noFill/>
          </a:ln>
        </p:spPr>
      </p:sp>
      <p:sp>
        <p:nvSpPr>
          <p:cNvPr id="367" name="Google Shape;367;p9"/>
          <p:cNvSpPr/>
          <p:nvPr/>
        </p:nvSpPr>
        <p:spPr>
          <a:xfrm>
            <a:off x="16302761" y="4388663"/>
            <a:ext cx="1078563" cy="990314"/>
          </a:xfrm>
          <a:custGeom>
            <a:rect b="b" l="l" r="r" t="t"/>
            <a:pathLst>
              <a:path extrusionOk="0" h="990314" w="1078563">
                <a:moveTo>
                  <a:pt x="0" y="0"/>
                </a:moveTo>
                <a:lnTo>
                  <a:pt x="1078564" y="0"/>
                </a:lnTo>
                <a:lnTo>
                  <a:pt x="1078564" y="990314"/>
                </a:lnTo>
                <a:lnTo>
                  <a:pt x="0" y="990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-323" r="-324" t="0"/>
            </a:stretch>
          </a:blipFill>
          <a:ln>
            <a:noFill/>
          </a:ln>
        </p:spPr>
      </p:sp>
      <p:sp>
        <p:nvSpPr>
          <p:cNvPr id="368" name="Google Shape;368;p9"/>
          <p:cNvSpPr txBox="1"/>
          <p:nvPr/>
        </p:nvSpPr>
        <p:spPr>
          <a:xfrm>
            <a:off x="13399437" y="6325295"/>
            <a:ext cx="1625422" cy="622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 Year</a:t>
            </a:r>
            <a:endParaRPr/>
          </a:p>
        </p:txBody>
      </p:sp>
      <p:sp>
        <p:nvSpPr>
          <p:cNvPr id="369" name="Google Shape;369;p9"/>
          <p:cNvSpPr txBox="1"/>
          <p:nvPr/>
        </p:nvSpPr>
        <p:spPr>
          <a:xfrm>
            <a:off x="10743762" y="7268280"/>
            <a:ext cx="1656093" cy="58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Year</a:t>
            </a:r>
            <a:endParaRPr/>
          </a:p>
        </p:txBody>
      </p:sp>
      <p:sp>
        <p:nvSpPr>
          <p:cNvPr id="370" name="Google Shape;370;p9"/>
          <p:cNvSpPr txBox="1"/>
          <p:nvPr/>
        </p:nvSpPr>
        <p:spPr>
          <a:xfrm>
            <a:off x="2527302" y="4449308"/>
            <a:ext cx="7079332" cy="1372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Subcription price : 15$ (1 month free)</a:t>
            </a:r>
            <a:endParaRPr/>
          </a:p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1st year  target     : 200 user </a:t>
            </a:r>
            <a:endParaRPr/>
          </a:p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1 st year revenue  : 33000$</a:t>
            </a:r>
            <a:endParaRPr/>
          </a:p>
        </p:txBody>
      </p:sp>
      <p:sp>
        <p:nvSpPr>
          <p:cNvPr id="371" name="Google Shape;371;p9"/>
          <p:cNvSpPr txBox="1"/>
          <p:nvPr/>
        </p:nvSpPr>
        <p:spPr>
          <a:xfrm>
            <a:off x="1142529" y="4585897"/>
            <a:ext cx="936146" cy="960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12" u="none" cap="none" strike="noStrike">
                <a:solidFill>
                  <a:srgbClr val="F37335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372" name="Google Shape;372;p9"/>
          <p:cNvSpPr txBox="1"/>
          <p:nvPr/>
        </p:nvSpPr>
        <p:spPr>
          <a:xfrm>
            <a:off x="1142529" y="6542246"/>
            <a:ext cx="936146" cy="960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12" u="none" cap="none" strike="noStrike">
                <a:solidFill>
                  <a:srgbClr val="F37335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373" name="Google Shape;373;p9"/>
          <p:cNvSpPr txBox="1"/>
          <p:nvPr/>
        </p:nvSpPr>
        <p:spPr>
          <a:xfrm>
            <a:off x="1142529" y="8481098"/>
            <a:ext cx="936146" cy="960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12" u="none" cap="none" strike="noStrike">
                <a:solidFill>
                  <a:srgbClr val="F37335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374" name="Google Shape;374;p9"/>
          <p:cNvSpPr/>
          <p:nvPr/>
        </p:nvSpPr>
        <p:spPr>
          <a:xfrm>
            <a:off x="13632390" y="5073606"/>
            <a:ext cx="1010707" cy="984980"/>
          </a:xfrm>
          <a:custGeom>
            <a:rect b="b" l="l" r="r" t="t"/>
            <a:pathLst>
              <a:path extrusionOk="0" h="984980" w="1010707">
                <a:moveTo>
                  <a:pt x="0" y="0"/>
                </a:moveTo>
                <a:lnTo>
                  <a:pt x="1010707" y="0"/>
                </a:lnTo>
                <a:lnTo>
                  <a:pt x="1010707" y="984980"/>
                </a:lnTo>
                <a:lnTo>
                  <a:pt x="0" y="984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47" l="0" r="0" t="-347"/>
            </a:stretch>
          </a:blipFill>
          <a:ln>
            <a:noFill/>
          </a:ln>
        </p:spPr>
      </p:sp>
      <p:sp>
        <p:nvSpPr>
          <p:cNvPr id="375" name="Google Shape;375;p9"/>
          <p:cNvSpPr/>
          <p:nvPr/>
        </p:nvSpPr>
        <p:spPr>
          <a:xfrm>
            <a:off x="11078308" y="5778027"/>
            <a:ext cx="1142028" cy="1171851"/>
          </a:xfrm>
          <a:custGeom>
            <a:rect b="b" l="l" r="r" t="t"/>
            <a:pathLst>
              <a:path extrusionOk="0" h="1171851" w="1142028">
                <a:moveTo>
                  <a:pt x="0" y="0"/>
                </a:moveTo>
                <a:lnTo>
                  <a:pt x="1142029" y="0"/>
                </a:lnTo>
                <a:lnTo>
                  <a:pt x="1142029" y="1171851"/>
                </a:lnTo>
                <a:lnTo>
                  <a:pt x="0" y="1171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351" l="0" r="0" t="-351"/>
            </a:stretch>
          </a:blipFill>
          <a:ln>
            <a:noFill/>
          </a:ln>
        </p:spPr>
      </p:sp>
      <p:sp>
        <p:nvSpPr>
          <p:cNvPr id="376" name="Google Shape;376;p9"/>
          <p:cNvSpPr txBox="1"/>
          <p:nvPr/>
        </p:nvSpPr>
        <p:spPr>
          <a:xfrm>
            <a:off x="16029327" y="5738612"/>
            <a:ext cx="1625422" cy="622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Year</a:t>
            </a:r>
            <a:endParaRPr/>
          </a:p>
        </p:txBody>
      </p:sp>
      <p:sp>
        <p:nvSpPr>
          <p:cNvPr id="377" name="Google Shape;377;p9"/>
          <p:cNvSpPr txBox="1"/>
          <p:nvPr/>
        </p:nvSpPr>
        <p:spPr>
          <a:xfrm>
            <a:off x="10701728" y="7920800"/>
            <a:ext cx="1800892" cy="1583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94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Target 200 client</a:t>
            </a:r>
            <a:endParaRPr/>
          </a:p>
        </p:txBody>
      </p:sp>
      <p:sp>
        <p:nvSpPr>
          <p:cNvPr id="378" name="Google Shape;378;p9"/>
          <p:cNvSpPr txBox="1"/>
          <p:nvPr/>
        </p:nvSpPr>
        <p:spPr>
          <a:xfrm>
            <a:off x="13253418" y="6914921"/>
            <a:ext cx="1922155" cy="1701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9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Target 400 client</a:t>
            </a:r>
            <a:endParaRPr/>
          </a:p>
        </p:txBody>
      </p:sp>
      <p:sp>
        <p:nvSpPr>
          <p:cNvPr id="379" name="Google Shape;379;p9"/>
          <p:cNvSpPr txBox="1"/>
          <p:nvPr/>
        </p:nvSpPr>
        <p:spPr>
          <a:xfrm>
            <a:off x="15864792" y="6384331"/>
            <a:ext cx="2050494" cy="1806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3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Target 500 + client</a:t>
            </a:r>
            <a:endParaRPr/>
          </a:p>
        </p:txBody>
      </p:sp>
      <p:sp>
        <p:nvSpPr>
          <p:cNvPr id="380" name="Google Shape;380;p9"/>
          <p:cNvSpPr txBox="1"/>
          <p:nvPr/>
        </p:nvSpPr>
        <p:spPr>
          <a:xfrm>
            <a:off x="2527302" y="6414916"/>
            <a:ext cx="7079332" cy="1372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Subcription price : 15$ (1 month free)</a:t>
            </a:r>
            <a:endParaRPr/>
          </a:p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2nd year  target     : 400 user </a:t>
            </a:r>
            <a:endParaRPr/>
          </a:p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2nd year revenue  : 66000$</a:t>
            </a:r>
            <a:endParaRPr/>
          </a:p>
        </p:txBody>
      </p:sp>
      <p:sp>
        <p:nvSpPr>
          <p:cNvPr id="381" name="Google Shape;381;p9"/>
          <p:cNvSpPr txBox="1"/>
          <p:nvPr/>
        </p:nvSpPr>
        <p:spPr>
          <a:xfrm>
            <a:off x="2527302" y="8289646"/>
            <a:ext cx="7079332" cy="1372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Subcription price : 18$ (1 month free) </a:t>
            </a:r>
            <a:endParaRPr/>
          </a:p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3rd year  target     : 500+ user </a:t>
            </a:r>
            <a:endParaRPr/>
          </a:p>
          <a:p>
            <a:pPr indent="0" lvl="0" marL="0" marR="0" rtl="0" algn="l">
              <a:lnSpc>
                <a:spcPct val="137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76" u="none" cap="none" strike="noStrike">
                <a:solidFill>
                  <a:srgbClr val="11100E"/>
                </a:solidFill>
                <a:latin typeface="Poppins"/>
                <a:ea typeface="Poppins"/>
                <a:cs typeface="Poppins"/>
                <a:sym typeface="Poppins"/>
              </a:rPr>
              <a:t>3rd year revenue  : 99000$</a:t>
            </a:r>
            <a:endParaRPr/>
          </a:p>
        </p:txBody>
      </p:sp>
      <p:grpSp>
        <p:nvGrpSpPr>
          <p:cNvPr id="382" name="Google Shape;382;p9"/>
          <p:cNvGrpSpPr/>
          <p:nvPr/>
        </p:nvGrpSpPr>
        <p:grpSpPr>
          <a:xfrm>
            <a:off x="4454093" y="1126778"/>
            <a:ext cx="9379817" cy="1321541"/>
            <a:chOff x="0" y="-70811"/>
            <a:chExt cx="12506423" cy="1762055"/>
          </a:xfrm>
        </p:grpSpPr>
        <p:grpSp>
          <p:nvGrpSpPr>
            <p:cNvPr id="383" name="Google Shape;383;p9"/>
            <p:cNvGrpSpPr/>
            <p:nvPr/>
          </p:nvGrpSpPr>
          <p:grpSpPr>
            <a:xfrm>
              <a:off x="0" y="-70811"/>
              <a:ext cx="12506419" cy="1762044"/>
              <a:chOff x="0" y="-38100"/>
              <a:chExt cx="2956974" cy="416612"/>
            </a:xfrm>
          </p:grpSpPr>
          <p:sp>
            <p:nvSpPr>
              <p:cNvPr id="384" name="Google Shape;384;p9"/>
              <p:cNvSpPr/>
              <p:nvPr/>
            </p:nvSpPr>
            <p:spPr>
              <a:xfrm>
                <a:off x="0" y="0"/>
                <a:ext cx="2956974" cy="378512"/>
              </a:xfrm>
              <a:custGeom>
                <a:rect b="b" l="l" r="r" t="t"/>
                <a:pathLst>
                  <a:path extrusionOk="0" h="378512" w="2956974">
                    <a:moveTo>
                      <a:pt x="14857" y="0"/>
                    </a:moveTo>
                    <a:lnTo>
                      <a:pt x="2942117" y="0"/>
                    </a:lnTo>
                    <a:cubicBezTo>
                      <a:pt x="2946057" y="0"/>
                      <a:pt x="2949836" y="1565"/>
                      <a:pt x="2952622" y="4351"/>
                    </a:cubicBezTo>
                    <a:cubicBezTo>
                      <a:pt x="2955409" y="7138"/>
                      <a:pt x="2956974" y="10917"/>
                      <a:pt x="2956974" y="14857"/>
                    </a:cubicBezTo>
                    <a:lnTo>
                      <a:pt x="2956974" y="363655"/>
                    </a:lnTo>
                    <a:cubicBezTo>
                      <a:pt x="2956974" y="367595"/>
                      <a:pt x="2955409" y="371374"/>
                      <a:pt x="2952622" y="374160"/>
                    </a:cubicBezTo>
                    <a:cubicBezTo>
                      <a:pt x="2949836" y="376946"/>
                      <a:pt x="2946057" y="378512"/>
                      <a:pt x="2942117" y="378512"/>
                    </a:cubicBezTo>
                    <a:lnTo>
                      <a:pt x="14857" y="378512"/>
                    </a:lnTo>
                    <a:cubicBezTo>
                      <a:pt x="10917" y="378512"/>
                      <a:pt x="7138" y="376946"/>
                      <a:pt x="4351" y="374160"/>
                    </a:cubicBezTo>
                    <a:cubicBezTo>
                      <a:pt x="1565" y="371374"/>
                      <a:pt x="0" y="367595"/>
                      <a:pt x="0" y="363655"/>
                    </a:cubicBezTo>
                    <a:lnTo>
                      <a:pt x="0" y="14857"/>
                    </a:lnTo>
                    <a:cubicBezTo>
                      <a:pt x="0" y="10917"/>
                      <a:pt x="1565" y="7138"/>
                      <a:pt x="4351" y="4351"/>
                    </a:cubicBezTo>
                    <a:cubicBezTo>
                      <a:pt x="7138" y="1565"/>
                      <a:pt x="10917" y="0"/>
                      <a:pt x="14857" y="0"/>
                    </a:cubicBezTo>
                    <a:close/>
                  </a:path>
                </a:pathLst>
              </a:custGeom>
              <a:solidFill>
                <a:srgbClr val="E0B15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9"/>
              <p:cNvSpPr txBox="1"/>
              <p:nvPr/>
            </p:nvSpPr>
            <p:spPr>
              <a:xfrm>
                <a:off x="0" y="-38100"/>
                <a:ext cx="2956974" cy="4166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2425" lIns="42425" spcFirstLastPara="1" rIns="42425" wrap="square" tIns="42425">
                <a:noAutofit/>
              </a:bodyPr>
              <a:lstStyle/>
              <a:p>
                <a:pPr indent="0" lvl="0" marL="0" marR="0" rtl="0" algn="ctr">
                  <a:lnSpc>
                    <a:spcPct val="123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" name="Google Shape;386;p9"/>
            <p:cNvGrpSpPr/>
            <p:nvPr/>
          </p:nvGrpSpPr>
          <p:grpSpPr>
            <a:xfrm>
              <a:off x="0" y="0"/>
              <a:ext cx="12506423" cy="1691244"/>
              <a:chOff x="0" y="0"/>
              <a:chExt cx="12506423" cy="1691244"/>
            </a:xfrm>
          </p:grpSpPr>
          <p:sp>
            <p:nvSpPr>
              <p:cNvPr id="387" name="Google Shape;387;p9"/>
              <p:cNvSpPr/>
              <p:nvPr/>
            </p:nvSpPr>
            <p:spPr>
              <a:xfrm>
                <a:off x="0" y="0"/>
                <a:ext cx="12506423" cy="1691244"/>
              </a:xfrm>
              <a:custGeom>
                <a:rect b="b" l="l" r="r" t="t"/>
                <a:pathLst>
                  <a:path extrusionOk="0" h="1691244" w="12506423">
                    <a:moveTo>
                      <a:pt x="0" y="0"/>
                    </a:moveTo>
                    <a:lnTo>
                      <a:pt x="12506423" y="0"/>
                    </a:lnTo>
                    <a:lnTo>
                      <a:pt x="12506423" y="1691244"/>
                    </a:lnTo>
                    <a:lnTo>
                      <a:pt x="0" y="1691244"/>
                    </a:lnTo>
                    <a:close/>
                  </a:path>
                </a:pathLst>
              </a:custGeom>
              <a:blipFill rotWithShape="1">
                <a:blip r:embed="rId11">
                  <a:alphaModFix amt="0"/>
                </a:blip>
                <a:stretch>
                  <a:fillRect b="-58428" l="0" r="24747" t="-58430"/>
                </a:stretch>
              </a:blipFill>
              <a:ln>
                <a:noFill/>
              </a:ln>
            </p:spPr>
          </p:sp>
          <p:sp>
            <p:nvSpPr>
              <p:cNvPr id="388" name="Google Shape;388;p9"/>
              <p:cNvSpPr txBox="1"/>
              <p:nvPr/>
            </p:nvSpPr>
            <p:spPr>
              <a:xfrm>
                <a:off x="0" y="0"/>
                <a:ext cx="12506419" cy="16912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6045" u="none" cap="none" strike="noStrike">
                    <a:solidFill>
                      <a:srgbClr val="2B1511"/>
                    </a:solidFill>
                    <a:latin typeface="Arial"/>
                    <a:ea typeface="Arial"/>
                    <a:cs typeface="Arial"/>
                    <a:sym typeface="Arial"/>
                  </a:rPr>
                  <a:t>REVENUE Generation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EB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0"/>
          <p:cNvSpPr txBox="1"/>
          <p:nvPr/>
        </p:nvSpPr>
        <p:spPr>
          <a:xfrm>
            <a:off x="2856524" y="3988221"/>
            <a:ext cx="7530751" cy="2322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0" u="none" cap="none" strike="noStrike">
                <a:solidFill>
                  <a:srgbClr val="11100E"/>
                </a:solidFill>
                <a:latin typeface="Alexandria Medium"/>
                <a:ea typeface="Alexandria Medium"/>
                <a:cs typeface="Alexandria Medium"/>
                <a:sym typeface="Alexandria Medium"/>
              </a:rPr>
              <a:t>Thanks!</a:t>
            </a:r>
            <a:endParaRPr/>
          </a:p>
        </p:txBody>
      </p:sp>
      <p:sp>
        <p:nvSpPr>
          <p:cNvPr id="394" name="Google Shape;394;p10"/>
          <p:cNvSpPr txBox="1"/>
          <p:nvPr/>
        </p:nvSpPr>
        <p:spPr>
          <a:xfrm>
            <a:off x="2856524" y="6007893"/>
            <a:ext cx="12574953" cy="1299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11100E"/>
                </a:solidFill>
                <a:latin typeface="Alexandria"/>
                <a:ea typeface="Alexandria"/>
                <a:cs typeface="Alexandria"/>
                <a:sym typeface="Alexandria"/>
              </a:rPr>
              <a:t>Do you have 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